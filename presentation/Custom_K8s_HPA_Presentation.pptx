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req/s</c:v>
                </c:pt>
              </c:strCache>
            </c:strRef>
          </c:tx>
          <c:spPr>
            <a:solidFill>
              <a:srgbClr val="2DD4B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Sheet1!$A$2:$A$127</c:f>
              <c:multiLvlStrCache>
                <c:ptCount val="126"/>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pt idx="61">
                    <c:v>305</c:v>
                  </c:pt>
                  <c:pt idx="62">
                    <c:v>310</c:v>
                  </c:pt>
                  <c:pt idx="63">
                    <c:v>315</c:v>
                  </c:pt>
                  <c:pt idx="64">
                    <c:v>320</c:v>
                  </c:pt>
                  <c:pt idx="65">
                    <c:v>325</c:v>
                  </c:pt>
                  <c:pt idx="66">
                    <c:v>330</c:v>
                  </c:pt>
                  <c:pt idx="67">
                    <c:v>335</c:v>
                  </c:pt>
                  <c:pt idx="68">
                    <c:v>340</c:v>
                  </c:pt>
                  <c:pt idx="69">
                    <c:v>345</c:v>
                  </c:pt>
                  <c:pt idx="70">
                    <c:v>350</c:v>
                  </c:pt>
                  <c:pt idx="71">
                    <c:v>355</c:v>
                  </c:pt>
                  <c:pt idx="72">
                    <c:v>360</c:v>
                  </c:pt>
                  <c:pt idx="73">
                    <c:v>365</c:v>
                  </c:pt>
                  <c:pt idx="74">
                    <c:v>370</c:v>
                  </c:pt>
                  <c:pt idx="75">
                    <c:v>375</c:v>
                  </c:pt>
                  <c:pt idx="76">
                    <c:v>380</c:v>
                  </c:pt>
                  <c:pt idx="77">
                    <c:v>385</c:v>
                  </c:pt>
                  <c:pt idx="78">
                    <c:v>390</c:v>
                  </c:pt>
                  <c:pt idx="79">
                    <c:v>395</c:v>
                  </c:pt>
                  <c:pt idx="80">
                    <c:v>400</c:v>
                  </c:pt>
                  <c:pt idx="81">
                    <c:v>405</c:v>
                  </c:pt>
                  <c:pt idx="82">
                    <c:v>410</c:v>
                  </c:pt>
                  <c:pt idx="83">
                    <c:v>415</c:v>
                  </c:pt>
                  <c:pt idx="84">
                    <c:v>420</c:v>
                  </c:pt>
                  <c:pt idx="85">
                    <c:v>425</c:v>
                  </c:pt>
                  <c:pt idx="86">
                    <c:v>430</c:v>
                  </c:pt>
                  <c:pt idx="87">
                    <c:v>435</c:v>
                  </c:pt>
                  <c:pt idx="88">
                    <c:v>440</c:v>
                  </c:pt>
                  <c:pt idx="89">
                    <c:v>445</c:v>
                  </c:pt>
                  <c:pt idx="90">
                    <c:v>450</c:v>
                  </c:pt>
                  <c:pt idx="91">
                    <c:v>455</c:v>
                  </c:pt>
                  <c:pt idx="92">
                    <c:v>460</c:v>
                  </c:pt>
                  <c:pt idx="93">
                    <c:v>465</c:v>
                  </c:pt>
                  <c:pt idx="94">
                    <c:v>470</c:v>
                  </c:pt>
                  <c:pt idx="95">
                    <c:v>475</c:v>
                  </c:pt>
                  <c:pt idx="96">
                    <c:v>480</c:v>
                  </c:pt>
                  <c:pt idx="97">
                    <c:v>485</c:v>
                  </c:pt>
                  <c:pt idx="98">
                    <c:v>490</c:v>
                  </c:pt>
                  <c:pt idx="99">
                    <c:v>495</c:v>
                  </c:pt>
                  <c:pt idx="100">
                    <c:v>500</c:v>
                  </c:pt>
                  <c:pt idx="101">
                    <c:v>505</c:v>
                  </c:pt>
                  <c:pt idx="102">
                    <c:v>510</c:v>
                  </c:pt>
                  <c:pt idx="103">
                    <c:v>515</c:v>
                  </c:pt>
                  <c:pt idx="104">
                    <c:v>520</c:v>
                  </c:pt>
                  <c:pt idx="105">
                    <c:v>525</c:v>
                  </c:pt>
                  <c:pt idx="106">
                    <c:v>530</c:v>
                  </c:pt>
                  <c:pt idx="107">
                    <c:v>535</c:v>
                  </c:pt>
                  <c:pt idx="108">
                    <c:v>540</c:v>
                  </c:pt>
                  <c:pt idx="109">
                    <c:v>545</c:v>
                  </c:pt>
                  <c:pt idx="110">
                    <c:v>550</c:v>
                  </c:pt>
                  <c:pt idx="111">
                    <c:v>555</c:v>
                  </c:pt>
                  <c:pt idx="112">
                    <c:v>560</c:v>
                  </c:pt>
                  <c:pt idx="113">
                    <c:v>565</c:v>
                  </c:pt>
                  <c:pt idx="114">
                    <c:v>570</c:v>
                  </c:pt>
                  <c:pt idx="115">
                    <c:v>575</c:v>
                  </c:pt>
                  <c:pt idx="116">
                    <c:v>580</c:v>
                  </c:pt>
                  <c:pt idx="117">
                    <c:v>585</c:v>
                  </c:pt>
                  <c:pt idx="118">
                    <c:v>590</c:v>
                  </c:pt>
                  <c:pt idx="119">
                    <c:v>595</c:v>
                  </c:pt>
                  <c:pt idx="120">
                    <c:v>600</c:v>
                  </c:pt>
                  <c:pt idx="121">
                    <c:v>605</c:v>
                  </c:pt>
                  <c:pt idx="122">
                    <c:v>610</c:v>
                  </c:pt>
                  <c:pt idx="123">
                    <c:v>615</c:v>
                  </c:pt>
                  <c:pt idx="124">
                    <c:v>620</c:v>
                  </c:pt>
                  <c:pt idx="125">
                    <c:v>625</c:v>
                  </c:pt>
                </c:lvl>
              </c:multiLvlStrCache>
            </c:multiLvlStrRef>
          </c:cat>
          <c:val>
            <c:numRef>
              <c:f>Sheet1!$B$2:$B$127</c:f>
              <c:numCache>
                <c:formatCode>General</c:formatCode>
                <c:ptCount val="126"/>
                <c:pt idx="0">
                  <c:v>7</c:v>
                </c:pt>
                <c:pt idx="1">
                  <c:v>8</c:v>
                </c:pt>
                <c:pt idx="2">
                  <c:v>6</c:v>
                </c:pt>
                <c:pt idx="3">
                  <c:v>9</c:v>
                </c:pt>
                <c:pt idx="4">
                  <c:v>8</c:v>
                </c:pt>
                <c:pt idx="5">
                  <c:v>7</c:v>
                </c:pt>
                <c:pt idx="6">
                  <c:v>8</c:v>
                </c:pt>
                <c:pt idx="7">
                  <c:v>6</c:v>
                </c:pt>
                <c:pt idx="8">
                  <c:v>7</c:v>
                </c:pt>
                <c:pt idx="9">
                  <c:v>7</c:v>
                </c:pt>
                <c:pt idx="10">
                  <c:v>6</c:v>
                </c:pt>
                <c:pt idx="11">
                  <c:v>8</c:v>
                </c:pt>
                <c:pt idx="12">
                  <c:v>9</c:v>
                </c:pt>
                <c:pt idx="13">
                  <c:v>7</c:v>
                </c:pt>
                <c:pt idx="14">
                  <c:v>5</c:v>
                </c:pt>
                <c:pt idx="15">
                  <c:v>5</c:v>
                </c:pt>
                <c:pt idx="16">
                  <c:v>7</c:v>
                </c:pt>
                <c:pt idx="17">
                  <c:v>7</c:v>
                </c:pt>
                <c:pt idx="18">
                  <c:v>6</c:v>
                </c:pt>
                <c:pt idx="19">
                  <c:v>8</c:v>
                </c:pt>
                <c:pt idx="20">
                  <c:v>7</c:v>
                </c:pt>
                <c:pt idx="21">
                  <c:v>5</c:v>
                </c:pt>
                <c:pt idx="22">
                  <c:v>6</c:v>
                </c:pt>
                <c:pt idx="23">
                  <c:v>8</c:v>
                </c:pt>
                <c:pt idx="24">
                  <c:v>10</c:v>
                </c:pt>
                <c:pt idx="25">
                  <c:v>6</c:v>
                </c:pt>
                <c:pt idx="26">
                  <c:v>6</c:v>
                </c:pt>
                <c:pt idx="27">
                  <c:v>7</c:v>
                </c:pt>
                <c:pt idx="28">
                  <c:v>8</c:v>
                </c:pt>
                <c:pt idx="29">
                  <c:v>6</c:v>
                </c:pt>
                <c:pt idx="30">
                  <c:v>6</c:v>
                </c:pt>
                <c:pt idx="31">
                  <c:v>6</c:v>
                </c:pt>
                <c:pt idx="32">
                  <c:v>7</c:v>
                </c:pt>
                <c:pt idx="33">
                  <c:v>7</c:v>
                </c:pt>
                <c:pt idx="34">
                  <c:v>7</c:v>
                </c:pt>
                <c:pt idx="35">
                  <c:v>5</c:v>
                </c:pt>
                <c:pt idx="36">
                  <c:v>6</c:v>
                </c:pt>
                <c:pt idx="37">
                  <c:v>6</c:v>
                </c:pt>
                <c:pt idx="38">
                  <c:v>8</c:v>
                </c:pt>
                <c:pt idx="39">
                  <c:v>9</c:v>
                </c:pt>
                <c:pt idx="40">
                  <c:v>10</c:v>
                </c:pt>
                <c:pt idx="41">
                  <c:v>6</c:v>
                </c:pt>
                <c:pt idx="42">
                  <c:v>10</c:v>
                </c:pt>
                <c:pt idx="43">
                  <c:v>5</c:v>
                </c:pt>
                <c:pt idx="44">
                  <c:v>7</c:v>
                </c:pt>
                <c:pt idx="45">
                  <c:v>7</c:v>
                </c:pt>
                <c:pt idx="46">
                  <c:v>9</c:v>
                </c:pt>
                <c:pt idx="47">
                  <c:v>7</c:v>
                </c:pt>
                <c:pt idx="48">
                  <c:v>7</c:v>
                </c:pt>
                <c:pt idx="49">
                  <c:v>7</c:v>
                </c:pt>
                <c:pt idx="50">
                  <c:v>6</c:v>
                </c:pt>
                <c:pt idx="51">
                  <c:v>17</c:v>
                </c:pt>
                <c:pt idx="52">
                  <c:v>32</c:v>
                </c:pt>
                <c:pt idx="53">
                  <c:v>32</c:v>
                </c:pt>
                <c:pt idx="54">
                  <c:v>35</c:v>
                </c:pt>
                <c:pt idx="55">
                  <c:v>32</c:v>
                </c:pt>
                <c:pt idx="56">
                  <c:v>35</c:v>
                </c:pt>
                <c:pt idx="57">
                  <c:v>37</c:v>
                </c:pt>
                <c:pt idx="58">
                  <c:v>32</c:v>
                </c:pt>
                <c:pt idx="59">
                  <c:v>34</c:v>
                </c:pt>
                <c:pt idx="60">
                  <c:v>37</c:v>
                </c:pt>
                <c:pt idx="61">
                  <c:v>36</c:v>
                </c:pt>
                <c:pt idx="62">
                  <c:v>39</c:v>
                </c:pt>
                <c:pt idx="63">
                  <c:v>40</c:v>
                </c:pt>
                <c:pt idx="64">
                  <c:v>41</c:v>
                </c:pt>
                <c:pt idx="65">
                  <c:v>42</c:v>
                </c:pt>
                <c:pt idx="66">
                  <c:v>35</c:v>
                </c:pt>
                <c:pt idx="67">
                  <c:v>41</c:v>
                </c:pt>
                <c:pt idx="68">
                  <c:v>40</c:v>
                </c:pt>
                <c:pt idx="69">
                  <c:v>41</c:v>
                </c:pt>
                <c:pt idx="70">
                  <c:v>32</c:v>
                </c:pt>
                <c:pt idx="71">
                  <c:v>32</c:v>
                </c:pt>
                <c:pt idx="72">
                  <c:v>34</c:v>
                </c:pt>
                <c:pt idx="73">
                  <c:v>30</c:v>
                </c:pt>
                <c:pt idx="74">
                  <c:v>33</c:v>
                </c:pt>
                <c:pt idx="75">
                  <c:v>33</c:v>
                </c:pt>
                <c:pt idx="76">
                  <c:v>37</c:v>
                </c:pt>
                <c:pt idx="77">
                  <c:v>32</c:v>
                </c:pt>
                <c:pt idx="78">
                  <c:v>38</c:v>
                </c:pt>
                <c:pt idx="79">
                  <c:v>32</c:v>
                </c:pt>
                <c:pt idx="80">
                  <c:v>35</c:v>
                </c:pt>
                <c:pt idx="81">
                  <c:v>37</c:v>
                </c:pt>
                <c:pt idx="82">
                  <c:v>35</c:v>
                </c:pt>
                <c:pt idx="83">
                  <c:v>31</c:v>
                </c:pt>
                <c:pt idx="84">
                  <c:v>27</c:v>
                </c:pt>
                <c:pt idx="85">
                  <c:v>30</c:v>
                </c:pt>
                <c:pt idx="86">
                  <c:v>28</c:v>
                </c:pt>
                <c:pt idx="87">
                  <c:v>27</c:v>
                </c:pt>
                <c:pt idx="88">
                  <c:v>17</c:v>
                </c:pt>
                <c:pt idx="89">
                  <c:v>17</c:v>
                </c:pt>
                <c:pt idx="90">
                  <c:v>19</c:v>
                </c:pt>
                <c:pt idx="91">
                  <c:v>19</c:v>
                </c:pt>
                <c:pt idx="92">
                  <c:v>12</c:v>
                </c:pt>
                <c:pt idx="93">
                  <c:v>19</c:v>
                </c:pt>
                <c:pt idx="94">
                  <c:v>16</c:v>
                </c:pt>
                <c:pt idx="95">
                  <c:v>12</c:v>
                </c:pt>
                <c:pt idx="96">
                  <c:v>13</c:v>
                </c:pt>
                <c:pt idx="97">
                  <c:v>7</c:v>
                </c:pt>
                <c:pt idx="98">
                  <c:v>7</c:v>
                </c:pt>
                <c:pt idx="99">
                  <c:v>6</c:v>
                </c:pt>
                <c:pt idx="100">
                  <c:v>7</c:v>
                </c:pt>
                <c:pt idx="101">
                  <c:v>7</c:v>
                </c:pt>
                <c:pt idx="102">
                  <c:v>6</c:v>
                </c:pt>
                <c:pt idx="103">
                  <c:v>7</c:v>
                </c:pt>
                <c:pt idx="104">
                  <c:v>6</c:v>
                </c:pt>
                <c:pt idx="105">
                  <c:v>8</c:v>
                </c:pt>
                <c:pt idx="106">
                  <c:v>6</c:v>
                </c:pt>
                <c:pt idx="107">
                  <c:v>9</c:v>
                </c:pt>
                <c:pt idx="108">
                  <c:v>10</c:v>
                </c:pt>
                <c:pt idx="109">
                  <c:v>7</c:v>
                </c:pt>
                <c:pt idx="110">
                  <c:v>5</c:v>
                </c:pt>
                <c:pt idx="111">
                  <c:v>7</c:v>
                </c:pt>
                <c:pt idx="112">
                  <c:v>8</c:v>
                </c:pt>
                <c:pt idx="113">
                  <c:v>8</c:v>
                </c:pt>
                <c:pt idx="114">
                  <c:v>8</c:v>
                </c:pt>
                <c:pt idx="115">
                  <c:v>9</c:v>
                </c:pt>
                <c:pt idx="116">
                  <c:v>7</c:v>
                </c:pt>
                <c:pt idx="117">
                  <c:v>8</c:v>
                </c:pt>
                <c:pt idx="118">
                  <c:v>10</c:v>
                </c:pt>
                <c:pt idx="119">
                  <c:v>8</c:v>
                </c:pt>
                <c:pt idx="120">
                  <c:v>9</c:v>
                </c:pt>
                <c:pt idx="121">
                  <c:v>9</c:v>
                </c:pt>
                <c:pt idx="122">
                  <c:v>8</c:v>
                </c:pt>
                <c:pt idx="123">
                  <c:v>9</c:v>
                </c:pt>
                <c:pt idx="124">
                  <c:v>8</c:v>
                </c:pt>
                <c:pt idx="125">
                  <c:v>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intro. This project implements elastic autoscaling for a containerized ML inference service on Kubernetes, and compares a custom autoscaler against the built-in Kubernetes HPA.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teaching objectives: elasticity for cloud services, hands-on Kubernetes experience, understanding SLOs, and building an autoscaler that beats the built-in HPA.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classifies images with ResNet18 on CPU only. We must hold p99 latency under 0.5s while beating stock Kubernetes HPA at both 70% and 90% CPU targets, all on a laptop-scale Minikube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Tester sends traffic to the Dispatcher, which routes to free ML Replica pods. Replicas and the Dispatcher expose metrics to Prometheus. The Autoscaler polls Prometheus every 15 seconds and calls the Kubernetes API to change replica count, closing the loop back to the ML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Tester replays a fixed workload. Dispatcher is the only place queuing happens. ML Replica pods run ResNet18 on CPU and process one request at a time, so the Dispatcher's routing decision directly determines utilization.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is Prometheus, scraping both the Dispatcher and Replica pods. The Autoscaler is our own control loop — polls every 15s and decides replica count, which we'll cover in detail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formula comes from queueing theory: desired replicas equals arrival rate times mean service time, divided by target utilization. On top of that we added three safety mechanisms: a queue-depth kicker so we react the instant a backlog forms, step-limiting so we never lurch, and asymmetric cooldowns so we scale up fast but scale down cautiously.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runs start from 2 replicas and replay the exact same workload file: a quiet baseline around 6-8 req/s, a sharp spike to 44 req/s, then back down. Run 1 uses our custom autoscaler, runs 2 and 3 use the built-in Kubernetes HPA at 70% and 90% CPU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runs spike well past the 0.5s SLO once the load jumps to 44 req/s. The custom autoscaler (blue) recovers within about 100 seconds; both stock HPA configurations stay saturated for the rest of the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Kubernetes HPA lines sit exactly on top of each other at 2 replicas — they never scale during this run. The custom autoscaler ramps up to 4 replicas during the spike and continues climbing afterward as later traffic builds. We'll explain why stock HPA never triggers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HPA at 90% starts with a cold-start latency spike of 326ms (still under SLO) but never adjusts replica count. Both HPA configurations end the run exactly where they started: 2 replicas. The custom autoscaler ends at 6, tracking the second traffic ramp near the end of the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insight: the dispatcher's backpressure caps replica CPU at roughly 76% no matter how much real demand is queued up, because replicas only ever process one request at a time. That 76% happens to fall inside Kubernetes HPA's tolerance window at a 70% target, and below the floor at a 90% target with replicas already at minimum. CPU-based autoscaling is blind to this; arrival-rate-based autoscaling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limitations: cold-start warmup on new pods, everything running on a single laptop-scale Minikube node rather than a real multi-node cluster, and only one workload trace tested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takeaways: we held the SLO where stock HPA couldn't, we closed a real blind spot in CPU-based autoscaling, and we did it without GPUs or managed cloud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Shape 0"/>
          <p:cNvSpPr/>
          <p:nvPr/>
        </p:nvSpPr>
        <p:spPr>
          <a:xfrm>
            <a:off x="7818120" y="502920"/>
            <a:ext cx="1234440" cy="1234440"/>
          </a:xfrm>
          <a:prstGeom prst="ellipse">
            <a:avLst/>
          </a:prstGeom>
          <a:solidFill>
            <a:srgbClr val="2DD4BF">
              <a:alpha val="92000"/>
            </a:srgbClr>
          </a:solidFill>
          <a:ln/>
        </p:spPr>
      </p:sp>
      <p:sp>
        <p:nvSpPr>
          <p:cNvPr id="3" name="Shape 1"/>
          <p:cNvSpPr/>
          <p:nvPr/>
        </p:nvSpPr>
        <p:spPr>
          <a:xfrm>
            <a:off x="8732520" y="1417320"/>
            <a:ext cx="777240" cy="777240"/>
          </a:xfrm>
          <a:prstGeom prst="ellipse">
            <a:avLst/>
          </a:prstGeom>
          <a:solidFill>
            <a:srgbClr val="2DD4BF">
              <a:alpha val="78000"/>
            </a:srgbClr>
          </a:solidFill>
          <a:ln/>
        </p:spPr>
      </p:sp>
      <p:sp>
        <p:nvSpPr>
          <p:cNvPr id="4" name="Shape 2"/>
          <p:cNvSpPr/>
          <p:nvPr/>
        </p:nvSpPr>
        <p:spPr>
          <a:xfrm>
            <a:off x="7452360" y="1783080"/>
            <a:ext cx="502920" cy="502920"/>
          </a:xfrm>
          <a:prstGeom prst="ellipse">
            <a:avLst/>
          </a:prstGeom>
          <a:solidFill>
            <a:srgbClr val="2DD4BF">
              <a:alpha val="65000"/>
            </a:srgbClr>
          </a:solidFill>
          <a:ln/>
        </p:spPr>
      </p:sp>
      <p:sp>
        <p:nvSpPr>
          <p:cNvPr id="5" name="Shape 3"/>
          <p:cNvSpPr/>
          <p:nvPr/>
        </p:nvSpPr>
        <p:spPr>
          <a:xfrm>
            <a:off x="8549640" y="2788920"/>
            <a:ext cx="960120" cy="960120"/>
          </a:xfrm>
          <a:prstGeom prst="ellipse">
            <a:avLst/>
          </a:prstGeom>
          <a:solidFill>
            <a:srgbClr val="2DD4BF">
              <a:alpha val="55000"/>
            </a:srgbClr>
          </a:solidFill>
          <a:ln/>
        </p:spPr>
      </p:sp>
      <p:sp>
        <p:nvSpPr>
          <p:cNvPr id="6" name="Shape 4"/>
          <p:cNvSpPr/>
          <p:nvPr/>
        </p:nvSpPr>
        <p:spPr>
          <a:xfrm>
            <a:off x="7818120" y="3611880"/>
            <a:ext cx="548640" cy="548640"/>
          </a:xfrm>
          <a:prstGeom prst="ellipse">
            <a:avLst/>
          </a:prstGeom>
          <a:solidFill>
            <a:srgbClr val="2DD4BF">
              <a:alpha val="70000"/>
            </a:srgbClr>
          </a:solidFill>
          <a:ln/>
        </p:spPr>
      </p:sp>
      <p:sp>
        <p:nvSpPr>
          <p:cNvPr id="7" name="Shape 5"/>
          <p:cNvSpPr/>
          <p:nvPr/>
        </p:nvSpPr>
        <p:spPr>
          <a:xfrm>
            <a:off x="8915400" y="4160520"/>
            <a:ext cx="365760" cy="365760"/>
          </a:xfrm>
          <a:prstGeom prst="ellipse">
            <a:avLst/>
          </a:prstGeom>
          <a:solidFill>
            <a:srgbClr val="2DD4BF">
              <a:alpha val="60000"/>
            </a:srgbClr>
          </a:solidFill>
          <a:ln/>
        </p:spPr>
      </p:sp>
      <p:sp>
        <p:nvSpPr>
          <p:cNvPr id="8" name="Text 6"/>
          <p:cNvSpPr/>
          <p:nvPr/>
        </p:nvSpPr>
        <p:spPr>
          <a:xfrm>
            <a:off x="640080" y="1417320"/>
            <a:ext cx="6858000" cy="365760"/>
          </a:xfrm>
          <a:prstGeom prst="rect">
            <a:avLst/>
          </a:prstGeom>
          <a:noFill/>
          <a:ln/>
        </p:spPr>
        <p:txBody>
          <a:bodyPr wrap="square" lIns="0" tIns="0" rIns="0" bIns="0" rtlCol="0" anchor="ctr"/>
          <a:lstStyle/>
          <a:p>
            <a:pPr indent="0" marL="0">
              <a:buNone/>
            </a:pPr>
            <a:r>
              <a:rPr lang="en-US" sz="1300" b="1" spc="200" kern="0" dirty="0">
                <a:solidFill>
                  <a:srgbClr val="2DD4BF"/>
                </a:solidFill>
                <a:latin typeface="Calibri" pitchFamily="34" charset="0"/>
                <a:ea typeface="Calibri" pitchFamily="34" charset="-122"/>
                <a:cs typeface="Calibri" pitchFamily="34" charset="-120"/>
              </a:rPr>
              <a:t>CLOUD COMPUTING APL  —  PROJECT PRESENTATION</a:t>
            </a:r>
            <a:endParaRPr lang="en-US" sz="1300" dirty="0"/>
          </a:p>
        </p:txBody>
      </p:sp>
      <p:sp>
        <p:nvSpPr>
          <p:cNvPr id="9" name="Text 7"/>
          <p:cNvSpPr/>
          <p:nvPr/>
        </p:nvSpPr>
        <p:spPr>
          <a:xfrm>
            <a:off x="640080" y="1828800"/>
            <a:ext cx="694944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Elastic ML Inference Serving</a:t>
            </a:r>
            <a:endParaRPr lang="en-US" sz="4000" dirty="0"/>
          </a:p>
        </p:txBody>
      </p:sp>
      <p:sp>
        <p:nvSpPr>
          <p:cNvPr id="10" name="Text 8"/>
          <p:cNvSpPr/>
          <p:nvPr/>
        </p:nvSpPr>
        <p:spPr>
          <a:xfrm>
            <a:off x="640080" y="2788920"/>
            <a:ext cx="6766560" cy="548640"/>
          </a:xfrm>
          <a:prstGeom prst="rect">
            <a:avLst/>
          </a:prstGeom>
          <a:noFill/>
          <a:ln/>
        </p:spPr>
        <p:txBody>
          <a:bodyPr wrap="square" lIns="0" tIns="0" rIns="0" bIns="0" rtlCol="0" anchor="ctr"/>
          <a:lstStyle/>
          <a:p>
            <a:pPr indent="0" marL="0">
              <a:buNone/>
            </a:pPr>
            <a:r>
              <a:rPr lang="en-US" sz="1800" dirty="0">
                <a:solidFill>
                  <a:srgbClr val="5C7A99"/>
                </a:solidFill>
                <a:latin typeface="Calibri" pitchFamily="34" charset="0"/>
                <a:ea typeface="Calibri" pitchFamily="34" charset="-122"/>
                <a:cs typeface="Calibri" pitchFamily="34" charset="-120"/>
              </a:rPr>
              <a:t>A Custom Horizontal Pod Autoscaler vs. Kubernetes HPA</a:t>
            </a:r>
            <a:endParaRPr lang="en-US" sz="1800" dirty="0"/>
          </a:p>
        </p:txBody>
      </p:sp>
      <p:sp>
        <p:nvSpPr>
          <p:cNvPr id="11" name="Text 9"/>
          <p:cNvSpPr/>
          <p:nvPr/>
        </p:nvSpPr>
        <p:spPr>
          <a:xfrm>
            <a:off x="640080" y="4434840"/>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Adeel Ahmed</a:t>
            </a:r>
            <a:endParaRPr lang="en-US" sz="1300" dirty="0"/>
          </a:p>
        </p:txBody>
      </p:sp>
      <p:sp>
        <p:nvSpPr>
          <p:cNvPr id="12" name="Text 10"/>
          <p:cNvSpPr/>
          <p:nvPr/>
        </p:nvSpPr>
        <p:spPr>
          <a:xfrm>
            <a:off x="640080" y="4709160"/>
            <a:ext cx="2743200" cy="274320"/>
          </a:xfrm>
          <a:prstGeom prst="rect">
            <a:avLst/>
          </a:prstGeom>
          <a:noFill/>
          <a:ln/>
        </p:spPr>
        <p:txBody>
          <a:bodyPr wrap="square" lIns="0" tIns="0" rIns="0" bIns="0" rtlCol="0" anchor="ctr"/>
          <a:lstStyle/>
          <a:p>
            <a:pPr indent="0" marL="0">
              <a:buNone/>
            </a:pPr>
            <a:r>
              <a:rPr lang="en-US" sz="1100" dirty="0">
                <a:solidFill>
                  <a:srgbClr val="5C7A99"/>
                </a:solidFill>
                <a:latin typeface="Calibri" pitchFamily="34" charset="0"/>
                <a:ea typeface="Calibri" pitchFamily="34" charset="-122"/>
                <a:cs typeface="Calibri" pitchFamily="34" charset="-120"/>
              </a:rPr>
              <a:t>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640080"/>
          </a:xfrm>
          <a:prstGeom prst="rect">
            <a:avLst/>
          </a:prstGeom>
          <a:noFill/>
          <a:ln/>
        </p:spPr>
        <p:txBody>
          <a:bodyPr wrap="square" lIns="0" tIns="0" rIns="0" bIns="0" rtlCol="0" anchor="ctr"/>
          <a:lstStyle/>
          <a:p>
            <a:pPr indent="0" marL="0">
              <a:buNone/>
            </a:pPr>
            <a:r>
              <a:rPr lang="en-US" sz="3800" b="1" dirty="0">
                <a:solidFill>
                  <a:srgbClr val="16233A"/>
                </a:solidFill>
                <a:latin typeface="Cambria" pitchFamily="34" charset="0"/>
                <a:ea typeface="Cambria" pitchFamily="34" charset="-122"/>
                <a:cs typeface="Cambria" pitchFamily="34" charset="-120"/>
              </a:rPr>
              <a:t>Goal</a:t>
            </a:r>
            <a:endParaRPr lang="en-US" sz="3800" dirty="0"/>
          </a:p>
        </p:txBody>
      </p:sp>
      <p:sp>
        <p:nvSpPr>
          <p:cNvPr id="3" name="Shape 1"/>
          <p:cNvSpPr/>
          <p:nvPr/>
        </p:nvSpPr>
        <p:spPr>
          <a:xfrm>
            <a:off x="640080" y="1600200"/>
            <a:ext cx="566928" cy="566928"/>
          </a:xfrm>
          <a:prstGeom prst="ellipse">
            <a:avLst/>
          </a:prstGeom>
          <a:solidFill>
            <a:srgbClr val="16233A"/>
          </a:solidFill>
          <a:ln/>
        </p:spPr>
      </p:sp>
      <p:pic>
        <p:nvPicPr>
          <p:cNvPr id="4" name="Image 0" descr="preencoded.png">    </p:cNvPr>
          <p:cNvPicPr>
            <a:picLocks noChangeAspect="1"/>
          </p:cNvPicPr>
          <p:nvPr/>
        </p:nvPicPr>
        <p:blipFill>
          <a:blip r:embed="rId1"/>
          <a:stretch>
            <a:fillRect/>
          </a:stretch>
        </p:blipFill>
        <p:spPr>
          <a:xfrm>
            <a:off x="781812" y="1741932"/>
            <a:ext cx="283464" cy="283464"/>
          </a:xfrm>
          <a:prstGeom prst="rect">
            <a:avLst/>
          </a:prstGeom>
        </p:spPr>
      </p:pic>
      <p:sp>
        <p:nvSpPr>
          <p:cNvPr id="5" name="Text 2"/>
          <p:cNvSpPr/>
          <p:nvPr/>
        </p:nvSpPr>
        <p:spPr>
          <a:xfrm>
            <a:off x="1417320" y="1572768"/>
            <a:ext cx="6858000" cy="365760"/>
          </a:xfrm>
          <a:prstGeom prst="rect">
            <a:avLst/>
          </a:prstGeom>
          <a:noFill/>
          <a:ln/>
        </p:spPr>
        <p:txBody>
          <a:bodyPr wrap="square" lIns="0" tIns="0" rIns="0" bIns="0" rtlCol="0" anchor="ctr"/>
          <a:lstStyle/>
          <a:p>
            <a:pPr indent="0" marL="0">
              <a:buNone/>
            </a:pPr>
            <a:r>
              <a:rPr lang="en-US" sz="1800" b="1" dirty="0">
                <a:solidFill>
                  <a:srgbClr val="1B2432"/>
                </a:solidFill>
                <a:latin typeface="Calibri" pitchFamily="34" charset="0"/>
                <a:ea typeface="Calibri" pitchFamily="34" charset="-122"/>
                <a:cs typeface="Calibri" pitchFamily="34" charset="-120"/>
              </a:rPr>
              <a:t>Achieve Elasticity</a:t>
            </a:r>
            <a:endParaRPr lang="en-US" sz="1800" dirty="0"/>
          </a:p>
        </p:txBody>
      </p:sp>
      <p:sp>
        <p:nvSpPr>
          <p:cNvPr id="6" name="Text 3"/>
          <p:cNvSpPr/>
          <p:nvPr/>
        </p:nvSpPr>
        <p:spPr>
          <a:xfrm>
            <a:off x="1417320" y="1920240"/>
            <a:ext cx="69494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For a Cloud ML inference service under variable load</a:t>
            </a:r>
            <a:endParaRPr lang="en-US" sz="1300" dirty="0"/>
          </a:p>
        </p:txBody>
      </p:sp>
      <p:sp>
        <p:nvSpPr>
          <p:cNvPr id="7" name="Shape 4"/>
          <p:cNvSpPr/>
          <p:nvPr/>
        </p:nvSpPr>
        <p:spPr>
          <a:xfrm>
            <a:off x="640080" y="2441448"/>
            <a:ext cx="566928" cy="566928"/>
          </a:xfrm>
          <a:prstGeom prst="ellipse">
            <a:avLst/>
          </a:prstGeom>
          <a:solidFill>
            <a:srgbClr val="16233A"/>
          </a:solidFill>
          <a:ln/>
        </p:spPr>
      </p:sp>
      <p:pic>
        <p:nvPicPr>
          <p:cNvPr id="8" name="Image 1" descr="preencoded.png">    </p:cNvPr>
          <p:cNvPicPr>
            <a:picLocks noChangeAspect="1"/>
          </p:cNvPicPr>
          <p:nvPr/>
        </p:nvPicPr>
        <p:blipFill>
          <a:blip r:embed="rId2"/>
          <a:stretch>
            <a:fillRect/>
          </a:stretch>
        </p:blipFill>
        <p:spPr>
          <a:xfrm>
            <a:off x="781812" y="2583180"/>
            <a:ext cx="283464" cy="283464"/>
          </a:xfrm>
          <a:prstGeom prst="rect">
            <a:avLst/>
          </a:prstGeom>
        </p:spPr>
      </p:pic>
      <p:sp>
        <p:nvSpPr>
          <p:cNvPr id="9" name="Text 5"/>
          <p:cNvSpPr/>
          <p:nvPr/>
        </p:nvSpPr>
        <p:spPr>
          <a:xfrm>
            <a:off x="1417320" y="2414016"/>
            <a:ext cx="6858000" cy="365760"/>
          </a:xfrm>
          <a:prstGeom prst="rect">
            <a:avLst/>
          </a:prstGeom>
          <a:noFill/>
          <a:ln/>
        </p:spPr>
        <p:txBody>
          <a:bodyPr wrap="square" lIns="0" tIns="0" rIns="0" bIns="0" rtlCol="0" anchor="ctr"/>
          <a:lstStyle/>
          <a:p>
            <a:pPr indent="0" marL="0">
              <a:buNone/>
            </a:pPr>
            <a:r>
              <a:rPr lang="en-US" sz="1800" b="1" dirty="0">
                <a:solidFill>
                  <a:srgbClr val="1B2432"/>
                </a:solidFill>
                <a:latin typeface="Calibri" pitchFamily="34" charset="0"/>
                <a:ea typeface="Calibri" pitchFamily="34" charset="-122"/>
                <a:cs typeface="Calibri" pitchFamily="34" charset="-120"/>
              </a:rPr>
              <a:t>Hands-On Kubernetes</a:t>
            </a:r>
            <a:endParaRPr lang="en-US" sz="1800" dirty="0"/>
          </a:p>
        </p:txBody>
      </p:sp>
      <p:sp>
        <p:nvSpPr>
          <p:cNvPr id="10" name="Text 6"/>
          <p:cNvSpPr/>
          <p:nvPr/>
        </p:nvSpPr>
        <p:spPr>
          <a:xfrm>
            <a:off x="1417320" y="2761488"/>
            <a:ext cx="69494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Container orchestration in a real cluster</a:t>
            </a:r>
            <a:endParaRPr lang="en-US" sz="1300" dirty="0"/>
          </a:p>
        </p:txBody>
      </p:sp>
      <p:sp>
        <p:nvSpPr>
          <p:cNvPr id="11" name="Shape 7"/>
          <p:cNvSpPr/>
          <p:nvPr/>
        </p:nvSpPr>
        <p:spPr>
          <a:xfrm>
            <a:off x="640080" y="3282696"/>
            <a:ext cx="566928" cy="566928"/>
          </a:xfrm>
          <a:prstGeom prst="ellipse">
            <a:avLst/>
          </a:prstGeom>
          <a:solidFill>
            <a:srgbClr val="16233A"/>
          </a:solidFill>
          <a:ln/>
        </p:spPr>
      </p:sp>
      <p:pic>
        <p:nvPicPr>
          <p:cNvPr id="12" name="Image 2" descr="preencoded.png">    </p:cNvPr>
          <p:cNvPicPr>
            <a:picLocks noChangeAspect="1"/>
          </p:cNvPicPr>
          <p:nvPr/>
        </p:nvPicPr>
        <p:blipFill>
          <a:blip r:embed="rId3"/>
          <a:stretch>
            <a:fillRect/>
          </a:stretch>
        </p:blipFill>
        <p:spPr>
          <a:xfrm>
            <a:off x="781812" y="3424428"/>
            <a:ext cx="283464" cy="283464"/>
          </a:xfrm>
          <a:prstGeom prst="rect">
            <a:avLst/>
          </a:prstGeom>
        </p:spPr>
      </p:pic>
      <p:sp>
        <p:nvSpPr>
          <p:cNvPr id="13" name="Text 8"/>
          <p:cNvSpPr/>
          <p:nvPr/>
        </p:nvSpPr>
        <p:spPr>
          <a:xfrm>
            <a:off x="1417320" y="3255264"/>
            <a:ext cx="6858000" cy="365760"/>
          </a:xfrm>
          <a:prstGeom prst="rect">
            <a:avLst/>
          </a:prstGeom>
          <a:noFill/>
          <a:ln/>
        </p:spPr>
        <p:txBody>
          <a:bodyPr wrap="square" lIns="0" tIns="0" rIns="0" bIns="0" rtlCol="0" anchor="ctr"/>
          <a:lstStyle/>
          <a:p>
            <a:pPr indent="0" marL="0">
              <a:buNone/>
            </a:pPr>
            <a:r>
              <a:rPr lang="en-US" sz="1800" b="1" dirty="0">
                <a:solidFill>
                  <a:srgbClr val="1B2432"/>
                </a:solidFill>
                <a:latin typeface="Calibri" pitchFamily="34" charset="0"/>
                <a:ea typeface="Calibri" pitchFamily="34" charset="-122"/>
                <a:cs typeface="Calibri" pitchFamily="34" charset="-120"/>
              </a:rPr>
              <a:t>Understand SLOs</a:t>
            </a:r>
            <a:endParaRPr lang="en-US" sz="1800" dirty="0"/>
          </a:p>
        </p:txBody>
      </p:sp>
      <p:sp>
        <p:nvSpPr>
          <p:cNvPr id="14" name="Text 9"/>
          <p:cNvSpPr/>
          <p:nvPr/>
        </p:nvSpPr>
        <p:spPr>
          <a:xfrm>
            <a:off x="1417320" y="3602736"/>
            <a:ext cx="69494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Service Level Objectives that bound acceptable latency</a:t>
            </a:r>
            <a:endParaRPr lang="en-US" sz="1300" dirty="0"/>
          </a:p>
        </p:txBody>
      </p:sp>
      <p:sp>
        <p:nvSpPr>
          <p:cNvPr id="15" name="Shape 10"/>
          <p:cNvSpPr/>
          <p:nvPr/>
        </p:nvSpPr>
        <p:spPr>
          <a:xfrm>
            <a:off x="640080" y="4123944"/>
            <a:ext cx="566928" cy="566928"/>
          </a:xfrm>
          <a:prstGeom prst="ellipse">
            <a:avLst/>
          </a:prstGeom>
          <a:solidFill>
            <a:srgbClr val="16233A"/>
          </a:solidFill>
          <a:ln/>
        </p:spPr>
      </p:sp>
      <p:pic>
        <p:nvPicPr>
          <p:cNvPr id="16" name="Image 3" descr="preencoded.png">    </p:cNvPr>
          <p:cNvPicPr>
            <a:picLocks noChangeAspect="1"/>
          </p:cNvPicPr>
          <p:nvPr/>
        </p:nvPicPr>
        <p:blipFill>
          <a:blip r:embed="rId4"/>
          <a:stretch>
            <a:fillRect/>
          </a:stretch>
        </p:blipFill>
        <p:spPr>
          <a:xfrm>
            <a:off x="781812" y="4265676"/>
            <a:ext cx="283464" cy="283464"/>
          </a:xfrm>
          <a:prstGeom prst="rect">
            <a:avLst/>
          </a:prstGeom>
        </p:spPr>
      </p:pic>
      <p:sp>
        <p:nvSpPr>
          <p:cNvPr id="17" name="Text 11"/>
          <p:cNvSpPr/>
          <p:nvPr/>
        </p:nvSpPr>
        <p:spPr>
          <a:xfrm>
            <a:off x="1417320" y="4096512"/>
            <a:ext cx="6858000" cy="365760"/>
          </a:xfrm>
          <a:prstGeom prst="rect">
            <a:avLst/>
          </a:prstGeom>
          <a:noFill/>
          <a:ln/>
        </p:spPr>
        <p:txBody>
          <a:bodyPr wrap="square" lIns="0" tIns="0" rIns="0" bIns="0" rtlCol="0" anchor="ctr"/>
          <a:lstStyle/>
          <a:p>
            <a:pPr indent="0" marL="0">
              <a:buNone/>
            </a:pPr>
            <a:r>
              <a:rPr lang="en-US" sz="1800" b="1" dirty="0">
                <a:solidFill>
                  <a:srgbClr val="1B2432"/>
                </a:solidFill>
                <a:latin typeface="Calibri" pitchFamily="34" charset="0"/>
                <a:ea typeface="Calibri" pitchFamily="34" charset="-122"/>
                <a:cs typeface="Calibri" pitchFamily="34" charset="-120"/>
              </a:rPr>
              <a:t>Outperform Stock HPA</a:t>
            </a:r>
            <a:endParaRPr lang="en-US" sz="1800" dirty="0"/>
          </a:p>
        </p:txBody>
      </p:sp>
      <p:sp>
        <p:nvSpPr>
          <p:cNvPr id="18" name="Text 12"/>
          <p:cNvSpPr/>
          <p:nvPr/>
        </p:nvSpPr>
        <p:spPr>
          <a:xfrm>
            <a:off x="1417320" y="4443984"/>
            <a:ext cx="69494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Build a custom autoscaler that beats Kubernetes' default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6400800" cy="640080"/>
          </a:xfrm>
          <a:prstGeom prst="rect">
            <a:avLst/>
          </a:prstGeom>
          <a:noFill/>
          <a:ln/>
        </p:spPr>
        <p:txBody>
          <a:bodyPr wrap="square" lIns="0" tIns="0" rIns="0" bIns="0" rtlCol="0" anchor="ctr"/>
          <a:lstStyle/>
          <a:p>
            <a:pPr indent="0" marL="0">
              <a:buNone/>
            </a:pPr>
            <a:r>
              <a:rPr lang="en-US" sz="3800" b="1" dirty="0">
                <a:solidFill>
                  <a:srgbClr val="16233A"/>
                </a:solidFill>
                <a:latin typeface="Cambria" pitchFamily="34" charset="0"/>
                <a:ea typeface="Cambria" pitchFamily="34" charset="-122"/>
                <a:cs typeface="Cambria" pitchFamily="34" charset="-120"/>
              </a:rPr>
              <a:t>The Challenge</a:t>
            </a:r>
            <a:endParaRPr lang="en-US" sz="3800" dirty="0"/>
          </a:p>
        </p:txBody>
      </p:sp>
      <p:sp>
        <p:nvSpPr>
          <p:cNvPr id="3" name="Shape 1"/>
          <p:cNvSpPr/>
          <p:nvPr/>
        </p:nvSpPr>
        <p:spPr>
          <a:xfrm>
            <a:off x="640080" y="1554480"/>
            <a:ext cx="3794760" cy="1417320"/>
          </a:xfrm>
          <a:prstGeom prst="roundRect">
            <a:avLst>
              <a:gd name="adj" fmla="val 5161"/>
            </a:avLst>
          </a:prstGeom>
          <a:solidFill>
            <a:srgbClr val="F1F5F9"/>
          </a:solidFill>
          <a:ln/>
          <a:effectLst>
            <a:outerShdw sx="100000" sy="100000" kx="0" ky="0" algn="bl" rotWithShape="0" blurRad="101600" dist="25400" dir="5400000">
              <a:srgbClr val="000000">
                <a:alpha val="8000"/>
              </a:srgbClr>
            </a:outerShdw>
          </a:effectLst>
        </p:spPr>
      </p:sp>
      <p:sp>
        <p:nvSpPr>
          <p:cNvPr id="4" name="Shape 2"/>
          <p:cNvSpPr/>
          <p:nvPr/>
        </p:nvSpPr>
        <p:spPr>
          <a:xfrm>
            <a:off x="914400" y="1810512"/>
            <a:ext cx="548640" cy="548640"/>
          </a:xfrm>
          <a:prstGeom prst="ellipse">
            <a:avLst/>
          </a:prstGeom>
          <a:solidFill>
            <a:srgbClr val="16233A"/>
          </a:solidFill>
          <a:ln/>
        </p:spPr>
      </p:sp>
      <p:pic>
        <p:nvPicPr>
          <p:cNvPr id="5" name="Image 0" descr="preencoded.png">    </p:cNvPr>
          <p:cNvPicPr>
            <a:picLocks noChangeAspect="1"/>
          </p:cNvPicPr>
          <p:nvPr/>
        </p:nvPicPr>
        <p:blipFill>
          <a:blip r:embed="rId1"/>
          <a:stretch>
            <a:fillRect/>
          </a:stretch>
        </p:blipFill>
        <p:spPr>
          <a:xfrm>
            <a:off x="1051560" y="1947672"/>
            <a:ext cx="274320" cy="274320"/>
          </a:xfrm>
          <a:prstGeom prst="rect">
            <a:avLst/>
          </a:prstGeom>
        </p:spPr>
      </p:pic>
      <p:sp>
        <p:nvSpPr>
          <p:cNvPr id="6" name="Text 3"/>
          <p:cNvSpPr/>
          <p:nvPr/>
        </p:nvSpPr>
        <p:spPr>
          <a:xfrm>
            <a:off x="1645920" y="1755648"/>
            <a:ext cx="2606040" cy="502920"/>
          </a:xfrm>
          <a:prstGeom prst="rect">
            <a:avLst/>
          </a:prstGeom>
          <a:noFill/>
          <a:ln/>
        </p:spPr>
        <p:txBody>
          <a:bodyPr wrap="square" lIns="0" tIns="0" rIns="0" bIns="0" rtlCol="0" anchor="t"/>
          <a:lstStyle/>
          <a:p>
            <a:pPr indent="0" marL="0">
              <a:buNone/>
            </a:pPr>
            <a:r>
              <a:rPr lang="en-US" sz="1600" b="1" dirty="0">
                <a:solidFill>
                  <a:srgbClr val="1B2432"/>
                </a:solidFill>
                <a:latin typeface="Calibri" pitchFamily="34" charset="0"/>
                <a:ea typeface="Calibri" pitchFamily="34" charset="-122"/>
                <a:cs typeface="Calibri" pitchFamily="34" charset="-120"/>
              </a:rPr>
              <a:t>ResNet18 Classification</a:t>
            </a:r>
            <a:endParaRPr lang="en-US" sz="1600" dirty="0"/>
          </a:p>
        </p:txBody>
      </p:sp>
      <p:sp>
        <p:nvSpPr>
          <p:cNvPr id="7" name="Text 4"/>
          <p:cNvSpPr/>
          <p:nvPr/>
        </p:nvSpPr>
        <p:spPr>
          <a:xfrm>
            <a:off x="1645920" y="2267712"/>
            <a:ext cx="2606040" cy="5486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CPU-only inference, no GPU</a:t>
            </a:r>
            <a:endParaRPr lang="en-US" sz="1250" dirty="0"/>
          </a:p>
        </p:txBody>
      </p:sp>
      <p:sp>
        <p:nvSpPr>
          <p:cNvPr id="8" name="Shape 5"/>
          <p:cNvSpPr/>
          <p:nvPr/>
        </p:nvSpPr>
        <p:spPr>
          <a:xfrm>
            <a:off x="4754880" y="1554480"/>
            <a:ext cx="3794760" cy="1417320"/>
          </a:xfrm>
          <a:prstGeom prst="roundRect">
            <a:avLst>
              <a:gd name="adj" fmla="val 5161"/>
            </a:avLst>
          </a:prstGeom>
          <a:solidFill>
            <a:srgbClr val="F1F5F9"/>
          </a:solidFill>
          <a:ln/>
          <a:effectLst>
            <a:outerShdw sx="100000" sy="100000" kx="0" ky="0" algn="bl" rotWithShape="0" blurRad="101600" dist="25400" dir="5400000">
              <a:srgbClr val="000000">
                <a:alpha val="8000"/>
              </a:srgbClr>
            </a:outerShdw>
          </a:effectLst>
        </p:spPr>
      </p:sp>
      <p:sp>
        <p:nvSpPr>
          <p:cNvPr id="9" name="Shape 6"/>
          <p:cNvSpPr/>
          <p:nvPr/>
        </p:nvSpPr>
        <p:spPr>
          <a:xfrm>
            <a:off x="5029200" y="1810512"/>
            <a:ext cx="548640" cy="548640"/>
          </a:xfrm>
          <a:prstGeom prst="ellipse">
            <a:avLst/>
          </a:prstGeom>
          <a:solidFill>
            <a:srgbClr val="16233A"/>
          </a:solidFill>
          <a:ln/>
        </p:spPr>
      </p:sp>
      <p:pic>
        <p:nvPicPr>
          <p:cNvPr id="10" name="Image 1" descr="preencoded.png">    </p:cNvPr>
          <p:cNvPicPr>
            <a:picLocks noChangeAspect="1"/>
          </p:cNvPicPr>
          <p:nvPr/>
        </p:nvPicPr>
        <p:blipFill>
          <a:blip r:embed="rId2"/>
          <a:stretch>
            <a:fillRect/>
          </a:stretch>
        </p:blipFill>
        <p:spPr>
          <a:xfrm>
            <a:off x="5166360" y="1947672"/>
            <a:ext cx="274320" cy="274320"/>
          </a:xfrm>
          <a:prstGeom prst="rect">
            <a:avLst/>
          </a:prstGeom>
        </p:spPr>
      </p:pic>
      <p:sp>
        <p:nvSpPr>
          <p:cNvPr id="11" name="Text 7"/>
          <p:cNvSpPr/>
          <p:nvPr/>
        </p:nvSpPr>
        <p:spPr>
          <a:xfrm>
            <a:off x="5760720" y="1755648"/>
            <a:ext cx="2606040" cy="502920"/>
          </a:xfrm>
          <a:prstGeom prst="rect">
            <a:avLst/>
          </a:prstGeom>
          <a:noFill/>
          <a:ln/>
        </p:spPr>
        <p:txBody>
          <a:bodyPr wrap="square" lIns="0" tIns="0" rIns="0" bIns="0" rtlCol="0" anchor="t"/>
          <a:lstStyle/>
          <a:p>
            <a:pPr indent="0" marL="0">
              <a:buNone/>
            </a:pPr>
            <a:r>
              <a:rPr lang="en-US" sz="1600" b="1" dirty="0">
                <a:solidFill>
                  <a:srgbClr val="1B2432"/>
                </a:solidFill>
                <a:latin typeface="Calibri" pitchFamily="34" charset="0"/>
                <a:ea typeface="Calibri" pitchFamily="34" charset="-122"/>
                <a:cs typeface="Calibri" pitchFamily="34" charset="-120"/>
              </a:rPr>
              <a:t>&lt; 0.5s p99 Latency</a:t>
            </a:r>
            <a:endParaRPr lang="en-US" sz="1600" dirty="0"/>
          </a:p>
        </p:txBody>
      </p:sp>
      <p:sp>
        <p:nvSpPr>
          <p:cNvPr id="12" name="Text 8"/>
          <p:cNvSpPr/>
          <p:nvPr/>
        </p:nvSpPr>
        <p:spPr>
          <a:xfrm>
            <a:off x="5760720" y="2267712"/>
            <a:ext cx="2606040" cy="5486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Server-side SLO target</a:t>
            </a:r>
            <a:endParaRPr lang="en-US" sz="1250" dirty="0"/>
          </a:p>
        </p:txBody>
      </p:sp>
      <p:sp>
        <p:nvSpPr>
          <p:cNvPr id="13" name="Shape 9"/>
          <p:cNvSpPr/>
          <p:nvPr/>
        </p:nvSpPr>
        <p:spPr>
          <a:xfrm>
            <a:off x="640080" y="3291840"/>
            <a:ext cx="3794760" cy="1417320"/>
          </a:xfrm>
          <a:prstGeom prst="roundRect">
            <a:avLst>
              <a:gd name="adj" fmla="val 5161"/>
            </a:avLst>
          </a:prstGeom>
          <a:solidFill>
            <a:srgbClr val="F1F5F9"/>
          </a:solidFill>
          <a:ln/>
          <a:effectLst>
            <a:outerShdw sx="100000" sy="100000" kx="0" ky="0" algn="bl" rotWithShape="0" blurRad="101600" dist="25400" dir="5400000">
              <a:srgbClr val="000000">
                <a:alpha val="8000"/>
              </a:srgbClr>
            </a:outerShdw>
          </a:effectLst>
        </p:spPr>
      </p:sp>
      <p:sp>
        <p:nvSpPr>
          <p:cNvPr id="14" name="Shape 10"/>
          <p:cNvSpPr/>
          <p:nvPr/>
        </p:nvSpPr>
        <p:spPr>
          <a:xfrm>
            <a:off x="914400" y="3547872"/>
            <a:ext cx="548640" cy="548640"/>
          </a:xfrm>
          <a:prstGeom prst="ellipse">
            <a:avLst/>
          </a:prstGeom>
          <a:solidFill>
            <a:srgbClr val="16233A"/>
          </a:solidFill>
          <a:ln/>
        </p:spPr>
      </p:sp>
      <p:pic>
        <p:nvPicPr>
          <p:cNvPr id="15" name="Image 2" descr="preencoded.png">    </p:cNvPr>
          <p:cNvPicPr>
            <a:picLocks noChangeAspect="1"/>
          </p:cNvPicPr>
          <p:nvPr/>
        </p:nvPicPr>
        <p:blipFill>
          <a:blip r:embed="rId3"/>
          <a:stretch>
            <a:fillRect/>
          </a:stretch>
        </p:blipFill>
        <p:spPr>
          <a:xfrm>
            <a:off x="1051560" y="3685032"/>
            <a:ext cx="274320" cy="274320"/>
          </a:xfrm>
          <a:prstGeom prst="rect">
            <a:avLst/>
          </a:prstGeom>
        </p:spPr>
      </p:pic>
      <p:sp>
        <p:nvSpPr>
          <p:cNvPr id="16" name="Text 11"/>
          <p:cNvSpPr/>
          <p:nvPr/>
        </p:nvSpPr>
        <p:spPr>
          <a:xfrm>
            <a:off x="1645920" y="3493008"/>
            <a:ext cx="2606040" cy="502920"/>
          </a:xfrm>
          <a:prstGeom prst="rect">
            <a:avLst/>
          </a:prstGeom>
          <a:noFill/>
          <a:ln/>
        </p:spPr>
        <p:txBody>
          <a:bodyPr wrap="square" lIns="0" tIns="0" rIns="0" bIns="0" rtlCol="0" anchor="t"/>
          <a:lstStyle/>
          <a:p>
            <a:pPr indent="0" marL="0">
              <a:buNone/>
            </a:pPr>
            <a:r>
              <a:rPr lang="en-US" sz="1600" b="1" dirty="0">
                <a:solidFill>
                  <a:srgbClr val="1B2432"/>
                </a:solidFill>
                <a:latin typeface="Calibri" pitchFamily="34" charset="0"/>
                <a:ea typeface="Calibri" pitchFamily="34" charset="-122"/>
                <a:cs typeface="Calibri" pitchFamily="34" charset="-120"/>
              </a:rPr>
              <a:t>Beat Kubernetes HPA</a:t>
            </a:r>
            <a:endParaRPr lang="en-US" sz="1600" dirty="0"/>
          </a:p>
        </p:txBody>
      </p:sp>
      <p:sp>
        <p:nvSpPr>
          <p:cNvPr id="17" name="Text 12"/>
          <p:cNvSpPr/>
          <p:nvPr/>
        </p:nvSpPr>
        <p:spPr>
          <a:xfrm>
            <a:off x="1645920" y="4005072"/>
            <a:ext cx="2606040" cy="5486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At 70% and 90% CPU targets</a:t>
            </a:r>
            <a:endParaRPr lang="en-US" sz="1250" dirty="0"/>
          </a:p>
        </p:txBody>
      </p:sp>
      <p:sp>
        <p:nvSpPr>
          <p:cNvPr id="18" name="Shape 13"/>
          <p:cNvSpPr/>
          <p:nvPr/>
        </p:nvSpPr>
        <p:spPr>
          <a:xfrm>
            <a:off x="4754880" y="3291840"/>
            <a:ext cx="3794760" cy="1417320"/>
          </a:xfrm>
          <a:prstGeom prst="roundRect">
            <a:avLst>
              <a:gd name="adj" fmla="val 5161"/>
            </a:avLst>
          </a:prstGeom>
          <a:solidFill>
            <a:srgbClr val="F1F5F9"/>
          </a:solidFill>
          <a:ln/>
          <a:effectLst>
            <a:outerShdw sx="100000" sy="100000" kx="0" ky="0" algn="bl" rotWithShape="0" blurRad="101600" dist="25400" dir="5400000">
              <a:srgbClr val="000000">
                <a:alpha val="8000"/>
              </a:srgbClr>
            </a:outerShdw>
          </a:effectLst>
        </p:spPr>
      </p:sp>
      <p:sp>
        <p:nvSpPr>
          <p:cNvPr id="19" name="Shape 14"/>
          <p:cNvSpPr/>
          <p:nvPr/>
        </p:nvSpPr>
        <p:spPr>
          <a:xfrm>
            <a:off x="5029200" y="3547872"/>
            <a:ext cx="548640" cy="548640"/>
          </a:xfrm>
          <a:prstGeom prst="ellipse">
            <a:avLst/>
          </a:prstGeom>
          <a:solidFill>
            <a:srgbClr val="16233A"/>
          </a:solidFill>
          <a:ln/>
        </p:spPr>
      </p:sp>
      <p:pic>
        <p:nvPicPr>
          <p:cNvPr id="20" name="Image 3" descr="preencoded.png">    </p:cNvPr>
          <p:cNvPicPr>
            <a:picLocks noChangeAspect="1"/>
          </p:cNvPicPr>
          <p:nvPr/>
        </p:nvPicPr>
        <p:blipFill>
          <a:blip r:embed="rId4"/>
          <a:stretch>
            <a:fillRect/>
          </a:stretch>
        </p:blipFill>
        <p:spPr>
          <a:xfrm>
            <a:off x="5166360" y="3685032"/>
            <a:ext cx="274320" cy="274320"/>
          </a:xfrm>
          <a:prstGeom prst="rect">
            <a:avLst/>
          </a:prstGeom>
        </p:spPr>
      </p:pic>
      <p:sp>
        <p:nvSpPr>
          <p:cNvPr id="21" name="Text 15"/>
          <p:cNvSpPr/>
          <p:nvPr/>
        </p:nvSpPr>
        <p:spPr>
          <a:xfrm>
            <a:off x="5760720" y="3493008"/>
            <a:ext cx="2606040" cy="502920"/>
          </a:xfrm>
          <a:prstGeom prst="rect">
            <a:avLst/>
          </a:prstGeom>
          <a:noFill/>
          <a:ln/>
        </p:spPr>
        <p:txBody>
          <a:bodyPr wrap="square" lIns="0" tIns="0" rIns="0" bIns="0" rtlCol="0" anchor="t"/>
          <a:lstStyle/>
          <a:p>
            <a:pPr indent="0" marL="0">
              <a:buNone/>
            </a:pPr>
            <a:r>
              <a:rPr lang="en-US" sz="1600" b="1" dirty="0">
                <a:solidFill>
                  <a:srgbClr val="1B2432"/>
                </a:solidFill>
                <a:latin typeface="Calibri" pitchFamily="34" charset="0"/>
                <a:ea typeface="Calibri" pitchFamily="34" charset="-122"/>
                <a:cs typeface="Calibri" pitchFamily="34" charset="-120"/>
              </a:rPr>
              <a:t>Minikube Cluster</a:t>
            </a:r>
            <a:endParaRPr lang="en-US" sz="1600" dirty="0"/>
          </a:p>
        </p:txBody>
      </p:sp>
      <p:sp>
        <p:nvSpPr>
          <p:cNvPr id="22" name="Text 16"/>
          <p:cNvSpPr/>
          <p:nvPr/>
        </p:nvSpPr>
        <p:spPr>
          <a:xfrm>
            <a:off x="5760720" y="4005072"/>
            <a:ext cx="2606040" cy="5486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Laptop-scale deployment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772400" cy="502920"/>
          </a:xfrm>
          <a:prstGeom prst="rect">
            <a:avLst/>
          </a:prstGeom>
          <a:noFill/>
          <a:ln/>
        </p:spPr>
        <p:txBody>
          <a:bodyPr wrap="square" lIns="0" tIns="0" rIns="0" bIns="0" rtlCol="0" anchor="t"/>
          <a:lstStyle/>
          <a:p>
            <a:pPr indent="0" marL="0">
              <a:buNone/>
            </a:pPr>
            <a:r>
              <a:rPr lang="en-US" sz="3000" b="1" dirty="0">
                <a:solidFill>
                  <a:srgbClr val="16233A"/>
                </a:solidFill>
                <a:latin typeface="Cambria" pitchFamily="34" charset="0"/>
                <a:ea typeface="Cambria" pitchFamily="34" charset="-122"/>
                <a:cs typeface="Cambria" pitchFamily="34" charset="-120"/>
              </a:rPr>
              <a:t>System Architecture</a:t>
            </a:r>
            <a:endParaRPr lang="en-US" sz="3000" dirty="0"/>
          </a:p>
        </p:txBody>
      </p:sp>
      <p:sp>
        <p:nvSpPr>
          <p:cNvPr id="3" name="Text 1"/>
          <p:cNvSpPr/>
          <p:nvPr/>
        </p:nvSpPr>
        <p:spPr>
          <a:xfrm>
            <a:off x="914400" y="1051560"/>
            <a:ext cx="5486400" cy="201168"/>
          </a:xfrm>
          <a:prstGeom prst="rect">
            <a:avLst/>
          </a:prstGeom>
          <a:noFill/>
          <a:ln/>
        </p:spPr>
        <p:txBody>
          <a:bodyPr wrap="square" lIns="0" tIns="0" rIns="0" bIns="0" rtlCol="0" anchor="ctr"/>
          <a:lstStyle/>
          <a:p>
            <a:pPr indent="0" marL="0">
              <a:buNone/>
            </a:pPr>
            <a:r>
              <a:rPr lang="en-US" sz="1100" b="1" spc="150" kern="0" dirty="0">
                <a:solidFill>
                  <a:srgbClr val="5C7A99"/>
                </a:solidFill>
                <a:latin typeface="Calibri" pitchFamily="34" charset="0"/>
                <a:ea typeface="Calibri" pitchFamily="34" charset="-122"/>
                <a:cs typeface="Calibri" pitchFamily="34" charset="-120"/>
              </a:rPr>
              <a:t>DATA PATH</a:t>
            </a:r>
            <a:endParaRPr lang="en-US" sz="1100" dirty="0"/>
          </a:p>
        </p:txBody>
      </p:sp>
      <p:sp>
        <p:nvSpPr>
          <p:cNvPr id="4" name="Text 2"/>
          <p:cNvSpPr/>
          <p:nvPr/>
        </p:nvSpPr>
        <p:spPr>
          <a:xfrm>
            <a:off x="914400" y="3108960"/>
            <a:ext cx="5486400" cy="201168"/>
          </a:xfrm>
          <a:prstGeom prst="rect">
            <a:avLst/>
          </a:prstGeom>
          <a:noFill/>
          <a:ln/>
        </p:spPr>
        <p:txBody>
          <a:bodyPr wrap="square" lIns="0" tIns="0" rIns="0" bIns="0" rtlCol="0" anchor="ctr"/>
          <a:lstStyle/>
          <a:p>
            <a:pPr indent="0" marL="0">
              <a:buNone/>
            </a:pPr>
            <a:r>
              <a:rPr lang="en-US" sz="1100" b="1" spc="150" kern="0" dirty="0">
                <a:solidFill>
                  <a:srgbClr val="5C7A99"/>
                </a:solidFill>
                <a:latin typeface="Calibri" pitchFamily="34" charset="0"/>
                <a:ea typeface="Calibri" pitchFamily="34" charset="-122"/>
                <a:cs typeface="Calibri" pitchFamily="34" charset="-120"/>
              </a:rPr>
              <a:t>CONTROL PATH</a:t>
            </a:r>
            <a:endParaRPr lang="en-US" sz="1100" dirty="0"/>
          </a:p>
        </p:txBody>
      </p:sp>
      <p:sp>
        <p:nvSpPr>
          <p:cNvPr id="5" name="Shape 3"/>
          <p:cNvSpPr/>
          <p:nvPr/>
        </p:nvSpPr>
        <p:spPr>
          <a:xfrm>
            <a:off x="914400" y="1325880"/>
            <a:ext cx="2011680" cy="777240"/>
          </a:xfrm>
          <a:prstGeom prst="roundRect">
            <a:avLst>
              <a:gd name="adj" fmla="val 9412"/>
            </a:avLst>
          </a:prstGeom>
          <a:solidFill>
            <a:srgbClr val="16233A"/>
          </a:solidFill>
          <a:ln/>
        </p:spPr>
      </p:sp>
      <p:sp>
        <p:nvSpPr>
          <p:cNvPr id="6" name="Text 4"/>
          <p:cNvSpPr/>
          <p:nvPr/>
        </p:nvSpPr>
        <p:spPr>
          <a:xfrm>
            <a:off x="914400" y="1325880"/>
            <a:ext cx="2011680" cy="777240"/>
          </a:xfrm>
          <a:prstGeom prst="rect">
            <a:avLst/>
          </a:prstGeom>
          <a:noFill/>
          <a:ln/>
        </p:spPr>
        <p:txBody>
          <a:bodyPr wrap="square" lIns="101600" tIns="101600" rIns="101600" bIns="1016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Load Tester</a:t>
            </a:r>
            <a:endParaRPr lang="en-US" sz="1500" dirty="0"/>
          </a:p>
        </p:txBody>
      </p:sp>
      <p:sp>
        <p:nvSpPr>
          <p:cNvPr id="7" name="Shape 5"/>
          <p:cNvSpPr/>
          <p:nvPr/>
        </p:nvSpPr>
        <p:spPr>
          <a:xfrm>
            <a:off x="3337560" y="1325880"/>
            <a:ext cx="2011680" cy="777240"/>
          </a:xfrm>
          <a:prstGeom prst="roundRect">
            <a:avLst>
              <a:gd name="adj" fmla="val 9412"/>
            </a:avLst>
          </a:prstGeom>
          <a:solidFill>
            <a:srgbClr val="16233A"/>
          </a:solidFill>
          <a:ln/>
        </p:spPr>
      </p:sp>
      <p:sp>
        <p:nvSpPr>
          <p:cNvPr id="8" name="Text 6"/>
          <p:cNvSpPr/>
          <p:nvPr/>
        </p:nvSpPr>
        <p:spPr>
          <a:xfrm>
            <a:off x="3337560" y="1325880"/>
            <a:ext cx="2011680" cy="777240"/>
          </a:xfrm>
          <a:prstGeom prst="rect">
            <a:avLst/>
          </a:prstGeom>
          <a:noFill/>
          <a:ln/>
        </p:spPr>
        <p:txBody>
          <a:bodyPr wrap="square" lIns="101600" tIns="101600" rIns="101600" bIns="1016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Dispatcher</a:t>
            </a:r>
            <a:endParaRPr lang="en-US" sz="1500" dirty="0"/>
          </a:p>
        </p:txBody>
      </p:sp>
      <p:sp>
        <p:nvSpPr>
          <p:cNvPr id="9" name="Shape 7"/>
          <p:cNvSpPr/>
          <p:nvPr/>
        </p:nvSpPr>
        <p:spPr>
          <a:xfrm>
            <a:off x="5760720" y="1325880"/>
            <a:ext cx="2011680" cy="777240"/>
          </a:xfrm>
          <a:prstGeom prst="roundRect">
            <a:avLst>
              <a:gd name="adj" fmla="val 9412"/>
            </a:avLst>
          </a:prstGeom>
          <a:solidFill>
            <a:srgbClr val="16233A"/>
          </a:solidFill>
          <a:ln/>
        </p:spPr>
      </p:sp>
      <p:sp>
        <p:nvSpPr>
          <p:cNvPr id="10" name="Text 8"/>
          <p:cNvSpPr/>
          <p:nvPr/>
        </p:nvSpPr>
        <p:spPr>
          <a:xfrm>
            <a:off x="5760720" y="1325880"/>
            <a:ext cx="2011680" cy="777240"/>
          </a:xfrm>
          <a:prstGeom prst="rect">
            <a:avLst/>
          </a:prstGeom>
          <a:noFill/>
          <a:ln/>
        </p:spPr>
        <p:txBody>
          <a:bodyPr wrap="square" lIns="101600" tIns="101600" rIns="101600" bIns="1016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ML Replicas</a:t>
            </a:r>
            <a:endParaRPr lang="en-US" sz="1500" dirty="0"/>
          </a:p>
          <a:p>
            <a:pPr algn="ctr" indent="0" marL="0">
              <a:buNone/>
            </a:pPr>
            <a:r>
              <a:rPr lang="en-US" sz="1050" dirty="0">
                <a:solidFill>
                  <a:srgbClr val="5C7A99"/>
                </a:solidFill>
                <a:latin typeface="Calibri" pitchFamily="34" charset="0"/>
                <a:ea typeface="Calibri" pitchFamily="34" charset="-122"/>
                <a:cs typeface="Calibri" pitchFamily="34" charset="-120"/>
              </a:rPr>
              <a:t>×N pods</a:t>
            </a:r>
            <a:endParaRPr lang="en-US" sz="1500" dirty="0"/>
          </a:p>
        </p:txBody>
      </p:sp>
      <p:sp>
        <p:nvSpPr>
          <p:cNvPr id="11" name="Shape 9"/>
          <p:cNvSpPr/>
          <p:nvPr/>
        </p:nvSpPr>
        <p:spPr>
          <a:xfrm>
            <a:off x="5760720" y="3383280"/>
            <a:ext cx="2011680" cy="777240"/>
          </a:xfrm>
          <a:prstGeom prst="roundRect">
            <a:avLst>
              <a:gd name="adj" fmla="val 9412"/>
            </a:avLst>
          </a:prstGeom>
          <a:solidFill>
            <a:srgbClr val="16233A"/>
          </a:solidFill>
          <a:ln/>
        </p:spPr>
      </p:sp>
      <p:sp>
        <p:nvSpPr>
          <p:cNvPr id="12" name="Text 10"/>
          <p:cNvSpPr/>
          <p:nvPr/>
        </p:nvSpPr>
        <p:spPr>
          <a:xfrm>
            <a:off x="5760720" y="3383280"/>
            <a:ext cx="2011680" cy="777240"/>
          </a:xfrm>
          <a:prstGeom prst="rect">
            <a:avLst/>
          </a:prstGeom>
          <a:noFill/>
          <a:ln/>
        </p:spPr>
        <p:txBody>
          <a:bodyPr wrap="square" lIns="101600" tIns="101600" rIns="101600" bIns="1016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Monitoring</a:t>
            </a:r>
            <a:endParaRPr lang="en-US" sz="1500" dirty="0"/>
          </a:p>
          <a:p>
            <a:pPr algn="ctr" indent="0" marL="0">
              <a:buNone/>
            </a:pPr>
            <a:r>
              <a:rPr lang="en-US" sz="1050" dirty="0">
                <a:solidFill>
                  <a:srgbClr val="5C7A99"/>
                </a:solidFill>
                <a:latin typeface="Calibri" pitchFamily="34" charset="0"/>
                <a:ea typeface="Calibri" pitchFamily="34" charset="-122"/>
                <a:cs typeface="Calibri" pitchFamily="34" charset="-120"/>
              </a:rPr>
              <a:t>Prometheus</a:t>
            </a:r>
            <a:endParaRPr lang="en-US" sz="1500" dirty="0"/>
          </a:p>
        </p:txBody>
      </p:sp>
      <p:sp>
        <p:nvSpPr>
          <p:cNvPr id="13" name="Shape 11"/>
          <p:cNvSpPr/>
          <p:nvPr/>
        </p:nvSpPr>
        <p:spPr>
          <a:xfrm>
            <a:off x="3337560" y="3383280"/>
            <a:ext cx="2011680" cy="777240"/>
          </a:xfrm>
          <a:prstGeom prst="roundRect">
            <a:avLst>
              <a:gd name="adj" fmla="val 9412"/>
            </a:avLst>
          </a:prstGeom>
          <a:solidFill>
            <a:srgbClr val="16233A"/>
          </a:solidFill>
          <a:ln/>
        </p:spPr>
      </p:sp>
      <p:sp>
        <p:nvSpPr>
          <p:cNvPr id="14" name="Text 12"/>
          <p:cNvSpPr/>
          <p:nvPr/>
        </p:nvSpPr>
        <p:spPr>
          <a:xfrm>
            <a:off x="3337560" y="3383280"/>
            <a:ext cx="2011680" cy="777240"/>
          </a:xfrm>
          <a:prstGeom prst="rect">
            <a:avLst/>
          </a:prstGeom>
          <a:noFill/>
          <a:ln/>
        </p:spPr>
        <p:txBody>
          <a:bodyPr wrap="square" lIns="101600" tIns="101600" rIns="101600" bIns="1016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Autoscaler</a:t>
            </a:r>
            <a:endParaRPr lang="en-US" sz="1500" dirty="0"/>
          </a:p>
        </p:txBody>
      </p:sp>
      <p:sp>
        <p:nvSpPr>
          <p:cNvPr id="15" name="Shape 13"/>
          <p:cNvSpPr/>
          <p:nvPr/>
        </p:nvSpPr>
        <p:spPr>
          <a:xfrm>
            <a:off x="914400" y="3383280"/>
            <a:ext cx="2011680" cy="777240"/>
          </a:xfrm>
          <a:prstGeom prst="roundRect">
            <a:avLst>
              <a:gd name="adj" fmla="val 9412"/>
            </a:avLst>
          </a:prstGeom>
          <a:solidFill>
            <a:srgbClr val="16233A"/>
          </a:solidFill>
          <a:ln/>
        </p:spPr>
      </p:sp>
      <p:sp>
        <p:nvSpPr>
          <p:cNvPr id="16" name="Text 14"/>
          <p:cNvSpPr/>
          <p:nvPr/>
        </p:nvSpPr>
        <p:spPr>
          <a:xfrm>
            <a:off x="914400" y="3383280"/>
            <a:ext cx="2011680" cy="777240"/>
          </a:xfrm>
          <a:prstGeom prst="rect">
            <a:avLst/>
          </a:prstGeom>
          <a:noFill/>
          <a:ln/>
        </p:spPr>
        <p:txBody>
          <a:bodyPr wrap="square" lIns="101600" tIns="101600" rIns="101600" bIns="1016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Kubernetes API</a:t>
            </a:r>
            <a:endParaRPr lang="en-US" sz="1500" dirty="0"/>
          </a:p>
        </p:txBody>
      </p:sp>
      <p:sp>
        <p:nvSpPr>
          <p:cNvPr id="17" name="Shape 15"/>
          <p:cNvSpPr/>
          <p:nvPr/>
        </p:nvSpPr>
        <p:spPr>
          <a:xfrm>
            <a:off x="2926080" y="1714500"/>
            <a:ext cx="411480" cy="0"/>
          </a:xfrm>
          <a:prstGeom prst="line">
            <a:avLst/>
          </a:prstGeom>
          <a:noFill/>
          <a:ln w="22225">
            <a:solidFill>
              <a:srgbClr val="5C7A99"/>
            </a:solidFill>
            <a:prstDash val="solid"/>
            <a:tailEnd type="triangle"/>
          </a:ln>
        </p:spPr>
      </p:sp>
      <p:sp>
        <p:nvSpPr>
          <p:cNvPr id="18" name="Shape 16"/>
          <p:cNvSpPr/>
          <p:nvPr/>
        </p:nvSpPr>
        <p:spPr>
          <a:xfrm>
            <a:off x="5349240" y="1714500"/>
            <a:ext cx="411480" cy="0"/>
          </a:xfrm>
          <a:prstGeom prst="line">
            <a:avLst/>
          </a:prstGeom>
          <a:noFill/>
          <a:ln w="22225">
            <a:solidFill>
              <a:srgbClr val="5C7A99"/>
            </a:solidFill>
            <a:prstDash val="solid"/>
            <a:tailEnd type="triangle"/>
          </a:ln>
        </p:spPr>
      </p:sp>
      <p:sp>
        <p:nvSpPr>
          <p:cNvPr id="19" name="Shape 17"/>
          <p:cNvSpPr/>
          <p:nvPr/>
        </p:nvSpPr>
        <p:spPr>
          <a:xfrm>
            <a:off x="5349240" y="3771900"/>
            <a:ext cx="411480" cy="0"/>
          </a:xfrm>
          <a:prstGeom prst="line">
            <a:avLst/>
          </a:prstGeom>
          <a:noFill/>
          <a:ln w="22225">
            <a:solidFill>
              <a:srgbClr val="5C7A99"/>
            </a:solidFill>
            <a:prstDash val="solid"/>
            <a:headEnd type="triangle"/>
          </a:ln>
        </p:spPr>
      </p:sp>
      <p:sp>
        <p:nvSpPr>
          <p:cNvPr id="20" name="Shape 18"/>
          <p:cNvSpPr/>
          <p:nvPr/>
        </p:nvSpPr>
        <p:spPr>
          <a:xfrm>
            <a:off x="2926080" y="3771900"/>
            <a:ext cx="411480" cy="0"/>
          </a:xfrm>
          <a:prstGeom prst="line">
            <a:avLst/>
          </a:prstGeom>
          <a:noFill/>
          <a:ln w="22225">
            <a:solidFill>
              <a:srgbClr val="5C7A99"/>
            </a:solidFill>
            <a:prstDash val="solid"/>
            <a:headEnd type="triangle"/>
          </a:ln>
        </p:spPr>
      </p:sp>
      <p:sp>
        <p:nvSpPr>
          <p:cNvPr id="21" name="Shape 19"/>
          <p:cNvSpPr/>
          <p:nvPr/>
        </p:nvSpPr>
        <p:spPr>
          <a:xfrm>
            <a:off x="6766560" y="2103120"/>
            <a:ext cx="0" cy="1280160"/>
          </a:xfrm>
          <a:prstGeom prst="line">
            <a:avLst/>
          </a:prstGeom>
          <a:noFill/>
          <a:ln w="25400">
            <a:solidFill>
              <a:srgbClr val="2DD4BF"/>
            </a:solidFill>
            <a:prstDash val="dash"/>
            <a:tailEnd type="triangle"/>
          </a:ln>
        </p:spPr>
      </p:sp>
      <p:sp>
        <p:nvSpPr>
          <p:cNvPr id="22" name="Text 20"/>
          <p:cNvSpPr/>
          <p:nvPr/>
        </p:nvSpPr>
        <p:spPr>
          <a:xfrm>
            <a:off x="6858000" y="2487168"/>
            <a:ext cx="1097280" cy="274320"/>
          </a:xfrm>
          <a:prstGeom prst="rect">
            <a:avLst/>
          </a:prstGeom>
          <a:noFill/>
          <a:ln/>
        </p:spPr>
        <p:txBody>
          <a:bodyPr wrap="square" lIns="0" tIns="0" rIns="0" bIns="0" rtlCol="0" anchor="ctr"/>
          <a:lstStyle/>
          <a:p>
            <a:pPr indent="0" marL="0">
              <a:buNone/>
            </a:pPr>
            <a:r>
              <a:rPr lang="en-US" sz="1050" i="1" dirty="0">
                <a:solidFill>
                  <a:srgbClr val="2DD4BF"/>
                </a:solidFill>
                <a:latin typeface="Calibri" pitchFamily="34" charset="0"/>
                <a:ea typeface="Calibri" pitchFamily="34" charset="-122"/>
                <a:cs typeface="Calibri" pitchFamily="34" charset="-120"/>
              </a:rPr>
              <a:t>metrics</a:t>
            </a:r>
            <a:endParaRPr lang="en-US" sz="1050" dirty="0"/>
          </a:p>
        </p:txBody>
      </p:sp>
      <p:sp>
        <p:nvSpPr>
          <p:cNvPr id="23" name="Shape 21"/>
          <p:cNvSpPr/>
          <p:nvPr/>
        </p:nvSpPr>
        <p:spPr>
          <a:xfrm>
            <a:off x="274320" y="3771900"/>
            <a:ext cx="640080" cy="0"/>
          </a:xfrm>
          <a:prstGeom prst="line">
            <a:avLst/>
          </a:prstGeom>
          <a:noFill/>
          <a:ln w="25400">
            <a:solidFill>
              <a:srgbClr val="2DD4BF"/>
            </a:solidFill>
            <a:prstDash val="dash"/>
          </a:ln>
        </p:spPr>
      </p:sp>
      <p:sp>
        <p:nvSpPr>
          <p:cNvPr id="24" name="Shape 22"/>
          <p:cNvSpPr/>
          <p:nvPr/>
        </p:nvSpPr>
        <p:spPr>
          <a:xfrm>
            <a:off x="274320" y="914400"/>
            <a:ext cx="0" cy="2857500"/>
          </a:xfrm>
          <a:prstGeom prst="line">
            <a:avLst/>
          </a:prstGeom>
          <a:noFill/>
          <a:ln w="25400">
            <a:solidFill>
              <a:srgbClr val="2DD4BF"/>
            </a:solidFill>
            <a:prstDash val="dash"/>
          </a:ln>
        </p:spPr>
      </p:sp>
      <p:sp>
        <p:nvSpPr>
          <p:cNvPr id="25" name="Shape 23"/>
          <p:cNvSpPr/>
          <p:nvPr/>
        </p:nvSpPr>
        <p:spPr>
          <a:xfrm>
            <a:off x="274320" y="914400"/>
            <a:ext cx="6492240" cy="0"/>
          </a:xfrm>
          <a:prstGeom prst="line">
            <a:avLst/>
          </a:prstGeom>
          <a:noFill/>
          <a:ln w="25400">
            <a:solidFill>
              <a:srgbClr val="2DD4BF"/>
            </a:solidFill>
            <a:prstDash val="dash"/>
          </a:ln>
        </p:spPr>
      </p:sp>
      <p:sp>
        <p:nvSpPr>
          <p:cNvPr id="26" name="Shape 24"/>
          <p:cNvSpPr/>
          <p:nvPr/>
        </p:nvSpPr>
        <p:spPr>
          <a:xfrm>
            <a:off x="6766560" y="914400"/>
            <a:ext cx="0" cy="411480"/>
          </a:xfrm>
          <a:prstGeom prst="line">
            <a:avLst/>
          </a:prstGeom>
          <a:noFill/>
          <a:ln w="25400">
            <a:solidFill>
              <a:srgbClr val="2DD4BF"/>
            </a:solidFill>
            <a:prstDash val="dash"/>
            <a:tailEnd type="triangle"/>
          </a:ln>
        </p:spPr>
      </p:sp>
      <p:sp>
        <p:nvSpPr>
          <p:cNvPr id="27" name="Text 25"/>
          <p:cNvSpPr/>
          <p:nvPr/>
        </p:nvSpPr>
        <p:spPr>
          <a:xfrm>
            <a:off x="6903720" y="969264"/>
            <a:ext cx="1737360" cy="274320"/>
          </a:xfrm>
          <a:prstGeom prst="rect">
            <a:avLst/>
          </a:prstGeom>
          <a:noFill/>
          <a:ln/>
        </p:spPr>
        <p:txBody>
          <a:bodyPr wrap="square" lIns="0" tIns="0" rIns="0" bIns="0" rtlCol="0" anchor="ctr"/>
          <a:lstStyle/>
          <a:p>
            <a:pPr indent="0" marL="0">
              <a:buNone/>
            </a:pPr>
            <a:r>
              <a:rPr lang="en-US" sz="1050" i="1" dirty="0">
                <a:solidFill>
                  <a:srgbClr val="2DD4BF"/>
                </a:solidFill>
                <a:latin typeface="Calibri" pitchFamily="34" charset="0"/>
                <a:ea typeface="Calibri" pitchFamily="34" charset="-122"/>
                <a:cs typeface="Calibri" pitchFamily="34" charset="-120"/>
              </a:rPr>
              <a:t>scales replicas</a:t>
            </a:r>
            <a:endParaRPr lang="en-US" sz="1050" dirty="0"/>
          </a:p>
        </p:txBody>
      </p:sp>
      <p:sp>
        <p:nvSpPr>
          <p:cNvPr id="28" name="Text 26"/>
          <p:cNvSpPr/>
          <p:nvPr/>
        </p:nvSpPr>
        <p:spPr>
          <a:xfrm>
            <a:off x="640080" y="4526280"/>
            <a:ext cx="77724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Only the Load Tester runs outside the cluster — every other component is a Kubernetes pod.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lIns="0" tIns="0" rIns="0" bIns="0" rtlCol="0" anchor="ctr"/>
          <a:lstStyle/>
          <a:p>
            <a:pPr indent="0" marL="0">
              <a:buNone/>
            </a:pPr>
            <a:r>
              <a:rPr lang="en-US" sz="3400" b="1" dirty="0">
                <a:solidFill>
                  <a:srgbClr val="16233A"/>
                </a:solidFill>
                <a:latin typeface="Cambria" pitchFamily="34" charset="0"/>
                <a:ea typeface="Cambria" pitchFamily="34" charset="-122"/>
                <a:cs typeface="Cambria" pitchFamily="34" charset="-120"/>
              </a:rPr>
              <a:t>Data Path Components</a:t>
            </a:r>
            <a:endParaRPr lang="en-US" sz="3400" dirty="0"/>
          </a:p>
        </p:txBody>
      </p:sp>
      <p:sp>
        <p:nvSpPr>
          <p:cNvPr id="3" name="Shape 1"/>
          <p:cNvSpPr/>
          <p:nvPr/>
        </p:nvSpPr>
        <p:spPr>
          <a:xfrm>
            <a:off x="640080" y="1554480"/>
            <a:ext cx="2514600" cy="3063240"/>
          </a:xfrm>
          <a:prstGeom prst="roundRect">
            <a:avLst>
              <a:gd name="adj" fmla="val 2909"/>
            </a:avLst>
          </a:prstGeom>
          <a:solidFill>
            <a:srgbClr val="F1F5F9"/>
          </a:solidFill>
          <a:ln/>
          <a:effectLst>
            <a:outerShdw sx="100000" sy="100000" kx="0" ky="0" algn="bl" rotWithShape="0" blurRad="101600" dist="25400" dir="5400000">
              <a:srgbClr val="000000">
                <a:alpha val="8000"/>
              </a:srgbClr>
            </a:outerShdw>
          </a:effectLst>
        </p:spPr>
      </p:sp>
      <p:sp>
        <p:nvSpPr>
          <p:cNvPr id="4" name="Shape 2"/>
          <p:cNvSpPr/>
          <p:nvPr/>
        </p:nvSpPr>
        <p:spPr>
          <a:xfrm>
            <a:off x="1577340" y="1874520"/>
            <a:ext cx="640080" cy="640080"/>
          </a:xfrm>
          <a:prstGeom prst="ellipse">
            <a:avLst/>
          </a:prstGeom>
          <a:solidFill>
            <a:srgbClr val="16233A"/>
          </a:solidFill>
          <a:ln/>
        </p:spPr>
      </p:sp>
      <p:pic>
        <p:nvPicPr>
          <p:cNvPr id="5" name="Image 0" descr="preencoded.png">    </p:cNvPr>
          <p:cNvPicPr>
            <a:picLocks noChangeAspect="1"/>
          </p:cNvPicPr>
          <p:nvPr/>
        </p:nvPicPr>
        <p:blipFill>
          <a:blip r:embed="rId1"/>
          <a:stretch>
            <a:fillRect/>
          </a:stretch>
        </p:blipFill>
        <p:spPr>
          <a:xfrm>
            <a:off x="1723644" y="2020824"/>
            <a:ext cx="347472" cy="347472"/>
          </a:xfrm>
          <a:prstGeom prst="rect">
            <a:avLst/>
          </a:prstGeom>
        </p:spPr>
      </p:pic>
      <p:sp>
        <p:nvSpPr>
          <p:cNvPr id="6" name="Text 3"/>
          <p:cNvSpPr/>
          <p:nvPr/>
        </p:nvSpPr>
        <p:spPr>
          <a:xfrm>
            <a:off x="777240" y="2651760"/>
            <a:ext cx="2240280" cy="411480"/>
          </a:xfrm>
          <a:prstGeom prst="rect">
            <a:avLst/>
          </a:prstGeom>
          <a:noFill/>
          <a:ln/>
        </p:spPr>
        <p:txBody>
          <a:bodyPr wrap="square" lIns="0" tIns="0" rIns="0" bIns="0" rtlCol="0" anchor="ctr"/>
          <a:lstStyle/>
          <a:p>
            <a:pPr algn="ctr" indent="0" marL="0">
              <a:buNone/>
            </a:pPr>
            <a:r>
              <a:rPr lang="en-US" sz="1800" b="1" dirty="0">
                <a:solidFill>
                  <a:srgbClr val="1B2432"/>
                </a:solidFill>
                <a:latin typeface="Calibri" pitchFamily="34" charset="0"/>
                <a:ea typeface="Calibri" pitchFamily="34" charset="-122"/>
                <a:cs typeface="Calibri" pitchFamily="34" charset="-120"/>
              </a:rPr>
              <a:t>Load Tester</a:t>
            </a:r>
            <a:endParaRPr lang="en-US" sz="1800" dirty="0"/>
          </a:p>
        </p:txBody>
      </p:sp>
      <p:sp>
        <p:nvSpPr>
          <p:cNvPr id="7" name="Text 4"/>
          <p:cNvSpPr/>
          <p:nvPr/>
        </p:nvSpPr>
        <p:spPr>
          <a:xfrm>
            <a:off x="960120" y="3154680"/>
            <a:ext cx="1965960" cy="12801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Async Python script</a:t>
            </a:r>
            <a:endParaRPr lang="en-US" sz="1250" dirty="0"/>
          </a:p>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Configurable req/s workload</a:t>
            </a:r>
            <a:endParaRPr lang="en-US" sz="1250" dirty="0"/>
          </a:p>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Sends queries to the Dispatcher</a:t>
            </a:r>
            <a:endParaRPr lang="en-US" sz="1250" dirty="0"/>
          </a:p>
        </p:txBody>
      </p:sp>
      <p:sp>
        <p:nvSpPr>
          <p:cNvPr id="8" name="Shape 5"/>
          <p:cNvSpPr/>
          <p:nvPr/>
        </p:nvSpPr>
        <p:spPr>
          <a:xfrm>
            <a:off x="3429000" y="1554480"/>
            <a:ext cx="2514600" cy="3063240"/>
          </a:xfrm>
          <a:prstGeom prst="roundRect">
            <a:avLst>
              <a:gd name="adj" fmla="val 2909"/>
            </a:avLst>
          </a:prstGeom>
          <a:solidFill>
            <a:srgbClr val="F1F5F9"/>
          </a:solidFill>
          <a:ln/>
          <a:effectLst>
            <a:outerShdw sx="100000" sy="100000" kx="0" ky="0" algn="bl" rotWithShape="0" blurRad="101600" dist="25400" dir="5400000">
              <a:srgbClr val="000000">
                <a:alpha val="8000"/>
              </a:srgbClr>
            </a:outerShdw>
          </a:effectLst>
        </p:spPr>
      </p:sp>
      <p:sp>
        <p:nvSpPr>
          <p:cNvPr id="9" name="Shape 6"/>
          <p:cNvSpPr/>
          <p:nvPr/>
        </p:nvSpPr>
        <p:spPr>
          <a:xfrm>
            <a:off x="4366260" y="1874520"/>
            <a:ext cx="640080" cy="640080"/>
          </a:xfrm>
          <a:prstGeom prst="ellipse">
            <a:avLst/>
          </a:prstGeom>
          <a:solidFill>
            <a:srgbClr val="16233A"/>
          </a:solidFill>
          <a:ln/>
        </p:spPr>
      </p:sp>
      <p:pic>
        <p:nvPicPr>
          <p:cNvPr id="10" name="Image 1" descr="preencoded.png">    </p:cNvPr>
          <p:cNvPicPr>
            <a:picLocks noChangeAspect="1"/>
          </p:cNvPicPr>
          <p:nvPr/>
        </p:nvPicPr>
        <p:blipFill>
          <a:blip r:embed="rId2"/>
          <a:stretch>
            <a:fillRect/>
          </a:stretch>
        </p:blipFill>
        <p:spPr>
          <a:xfrm>
            <a:off x="4512564" y="2020824"/>
            <a:ext cx="347472" cy="347472"/>
          </a:xfrm>
          <a:prstGeom prst="rect">
            <a:avLst/>
          </a:prstGeom>
        </p:spPr>
      </p:pic>
      <p:sp>
        <p:nvSpPr>
          <p:cNvPr id="11" name="Text 7"/>
          <p:cNvSpPr/>
          <p:nvPr/>
        </p:nvSpPr>
        <p:spPr>
          <a:xfrm>
            <a:off x="3566160" y="2651760"/>
            <a:ext cx="2240280" cy="411480"/>
          </a:xfrm>
          <a:prstGeom prst="rect">
            <a:avLst/>
          </a:prstGeom>
          <a:noFill/>
          <a:ln/>
        </p:spPr>
        <p:txBody>
          <a:bodyPr wrap="square" lIns="0" tIns="0" rIns="0" bIns="0" rtlCol="0" anchor="ctr"/>
          <a:lstStyle/>
          <a:p>
            <a:pPr algn="ctr" indent="0" marL="0">
              <a:buNone/>
            </a:pPr>
            <a:r>
              <a:rPr lang="en-US" sz="1800" b="1" dirty="0">
                <a:solidFill>
                  <a:srgbClr val="1B2432"/>
                </a:solidFill>
                <a:latin typeface="Calibri" pitchFamily="34" charset="0"/>
                <a:ea typeface="Calibri" pitchFamily="34" charset="-122"/>
                <a:cs typeface="Calibri" pitchFamily="34" charset="-120"/>
              </a:rPr>
              <a:t>Dispatcher</a:t>
            </a:r>
            <a:endParaRPr lang="en-US" sz="1800" dirty="0"/>
          </a:p>
        </p:txBody>
      </p:sp>
      <p:sp>
        <p:nvSpPr>
          <p:cNvPr id="12" name="Text 8"/>
          <p:cNvSpPr/>
          <p:nvPr/>
        </p:nvSpPr>
        <p:spPr>
          <a:xfrm>
            <a:off x="3749040" y="3154680"/>
            <a:ext cx="1965960" cy="12801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Centralized request queue</a:t>
            </a:r>
            <a:endParaRPr lang="en-US" sz="1250" dirty="0"/>
          </a:p>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Tracks live pod IPs via K8s Watch API</a:t>
            </a:r>
            <a:endParaRPr lang="en-US" sz="1250" dirty="0"/>
          </a:p>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Drops requests (HTTP 503) when full</a:t>
            </a:r>
            <a:endParaRPr lang="en-US" sz="1250" dirty="0"/>
          </a:p>
        </p:txBody>
      </p:sp>
      <p:sp>
        <p:nvSpPr>
          <p:cNvPr id="13" name="Shape 9"/>
          <p:cNvSpPr/>
          <p:nvPr/>
        </p:nvSpPr>
        <p:spPr>
          <a:xfrm>
            <a:off x="6217920" y="1554480"/>
            <a:ext cx="2514600" cy="3063240"/>
          </a:xfrm>
          <a:prstGeom prst="roundRect">
            <a:avLst>
              <a:gd name="adj" fmla="val 2909"/>
            </a:avLst>
          </a:prstGeom>
          <a:solidFill>
            <a:srgbClr val="F1F5F9"/>
          </a:solidFill>
          <a:ln/>
          <a:effectLst>
            <a:outerShdw sx="100000" sy="100000" kx="0" ky="0" algn="bl" rotWithShape="0" blurRad="101600" dist="25400" dir="5400000">
              <a:srgbClr val="000000">
                <a:alpha val="8000"/>
              </a:srgbClr>
            </a:outerShdw>
          </a:effectLst>
        </p:spPr>
      </p:sp>
      <p:sp>
        <p:nvSpPr>
          <p:cNvPr id="14" name="Shape 10"/>
          <p:cNvSpPr/>
          <p:nvPr/>
        </p:nvSpPr>
        <p:spPr>
          <a:xfrm>
            <a:off x="7155180" y="1874520"/>
            <a:ext cx="640080" cy="640080"/>
          </a:xfrm>
          <a:prstGeom prst="ellipse">
            <a:avLst/>
          </a:prstGeom>
          <a:solidFill>
            <a:srgbClr val="16233A"/>
          </a:solidFill>
          <a:ln/>
        </p:spPr>
      </p:sp>
      <p:pic>
        <p:nvPicPr>
          <p:cNvPr id="15" name="Image 2" descr="preencoded.png">    </p:cNvPr>
          <p:cNvPicPr>
            <a:picLocks noChangeAspect="1"/>
          </p:cNvPicPr>
          <p:nvPr/>
        </p:nvPicPr>
        <p:blipFill>
          <a:blip r:embed="rId3"/>
          <a:stretch>
            <a:fillRect/>
          </a:stretch>
        </p:blipFill>
        <p:spPr>
          <a:xfrm>
            <a:off x="7301484" y="2020824"/>
            <a:ext cx="347472" cy="347472"/>
          </a:xfrm>
          <a:prstGeom prst="rect">
            <a:avLst/>
          </a:prstGeom>
        </p:spPr>
      </p:pic>
      <p:sp>
        <p:nvSpPr>
          <p:cNvPr id="16" name="Text 11"/>
          <p:cNvSpPr/>
          <p:nvPr/>
        </p:nvSpPr>
        <p:spPr>
          <a:xfrm>
            <a:off x="6355080" y="2651760"/>
            <a:ext cx="2240280" cy="411480"/>
          </a:xfrm>
          <a:prstGeom prst="rect">
            <a:avLst/>
          </a:prstGeom>
          <a:noFill/>
          <a:ln/>
        </p:spPr>
        <p:txBody>
          <a:bodyPr wrap="square" lIns="0" tIns="0" rIns="0" bIns="0" rtlCol="0" anchor="ctr"/>
          <a:lstStyle/>
          <a:p>
            <a:pPr algn="ctr" indent="0" marL="0">
              <a:buNone/>
            </a:pPr>
            <a:r>
              <a:rPr lang="en-US" sz="1800" b="1" dirty="0">
                <a:solidFill>
                  <a:srgbClr val="1B2432"/>
                </a:solidFill>
                <a:latin typeface="Calibri" pitchFamily="34" charset="0"/>
                <a:ea typeface="Calibri" pitchFamily="34" charset="-122"/>
                <a:cs typeface="Calibri" pitchFamily="34" charset="-120"/>
              </a:rPr>
              <a:t>ML Replica</a:t>
            </a:r>
            <a:endParaRPr lang="en-US" sz="1800" dirty="0"/>
          </a:p>
        </p:txBody>
      </p:sp>
      <p:sp>
        <p:nvSpPr>
          <p:cNvPr id="17" name="Text 12"/>
          <p:cNvSpPr/>
          <p:nvPr/>
        </p:nvSpPr>
        <p:spPr>
          <a:xfrm>
            <a:off x="6537960" y="3154680"/>
            <a:ext cx="1965960" cy="12801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FastAPI + ResNet18, CPU-only</a:t>
            </a:r>
            <a:endParaRPr lang="en-US" sz="1250" dirty="0"/>
          </a:p>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One request at a time per pod</a:t>
            </a:r>
            <a:endParaRPr lang="en-US" sz="1250" dirty="0"/>
          </a:p>
          <a:p>
            <a:pPr marL="342900" indent="-342900">
              <a:spcAft>
                <a:spcPts val="800"/>
              </a:spcAft>
              <a:buSzPct val="100000"/>
              <a:buChar char="•"/>
            </a:pPr>
            <a:r>
              <a:rPr lang="en-US" sz="1250" dirty="0">
                <a:solidFill>
                  <a:srgbClr val="64748B"/>
                </a:solidFill>
                <a:latin typeface="Calibri" pitchFamily="34" charset="0"/>
                <a:ea typeface="Calibri" pitchFamily="34" charset="-122"/>
                <a:cs typeface="Calibri" pitchFamily="34" charset="-120"/>
              </a:rPr>
              <a:t>No queuing — Dispatcher owns the queue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lIns="0" tIns="0" rIns="0" bIns="0" rtlCol="0" anchor="ctr"/>
          <a:lstStyle/>
          <a:p>
            <a:pPr indent="0" marL="0">
              <a:buNone/>
            </a:pPr>
            <a:r>
              <a:rPr lang="en-US" sz="3400" b="1" dirty="0">
                <a:solidFill>
                  <a:srgbClr val="16233A"/>
                </a:solidFill>
                <a:latin typeface="Cambria" pitchFamily="34" charset="0"/>
                <a:ea typeface="Cambria" pitchFamily="34" charset="-122"/>
                <a:cs typeface="Cambria" pitchFamily="34" charset="-120"/>
              </a:rPr>
              <a:t>Control Path Components</a:t>
            </a:r>
            <a:endParaRPr lang="en-US" sz="3400" dirty="0"/>
          </a:p>
        </p:txBody>
      </p:sp>
      <p:sp>
        <p:nvSpPr>
          <p:cNvPr id="3" name="Shape 1"/>
          <p:cNvSpPr/>
          <p:nvPr/>
        </p:nvSpPr>
        <p:spPr>
          <a:xfrm>
            <a:off x="640080" y="1554480"/>
            <a:ext cx="3794760" cy="3063240"/>
          </a:xfrm>
          <a:prstGeom prst="roundRect">
            <a:avLst>
              <a:gd name="adj" fmla="val 2388"/>
            </a:avLst>
          </a:prstGeom>
          <a:solidFill>
            <a:srgbClr val="F1F5F9"/>
          </a:solidFill>
          <a:ln/>
          <a:effectLst>
            <a:outerShdw sx="100000" sy="100000" kx="0" ky="0" algn="bl" rotWithShape="0" blurRad="101600" dist="25400" dir="5400000">
              <a:srgbClr val="000000">
                <a:alpha val="8000"/>
              </a:srgbClr>
            </a:outerShdw>
          </a:effectLst>
        </p:spPr>
      </p:sp>
      <p:sp>
        <p:nvSpPr>
          <p:cNvPr id="4" name="Shape 2"/>
          <p:cNvSpPr/>
          <p:nvPr/>
        </p:nvSpPr>
        <p:spPr>
          <a:xfrm>
            <a:off x="960120" y="1874520"/>
            <a:ext cx="685800" cy="685800"/>
          </a:xfrm>
          <a:prstGeom prst="ellipse">
            <a:avLst/>
          </a:prstGeom>
          <a:solidFill>
            <a:srgbClr val="16233A"/>
          </a:solidFill>
          <a:ln/>
        </p:spPr>
      </p:sp>
      <p:pic>
        <p:nvPicPr>
          <p:cNvPr id="5" name="Image 0" descr="preencoded.png">    </p:cNvPr>
          <p:cNvPicPr>
            <a:picLocks noChangeAspect="1"/>
          </p:cNvPicPr>
          <p:nvPr/>
        </p:nvPicPr>
        <p:blipFill>
          <a:blip r:embed="rId1"/>
          <a:stretch>
            <a:fillRect/>
          </a:stretch>
        </p:blipFill>
        <p:spPr>
          <a:xfrm>
            <a:off x="1129284" y="2043684"/>
            <a:ext cx="347472" cy="347472"/>
          </a:xfrm>
          <a:prstGeom prst="rect">
            <a:avLst/>
          </a:prstGeom>
        </p:spPr>
      </p:pic>
      <p:sp>
        <p:nvSpPr>
          <p:cNvPr id="6" name="Text 3"/>
          <p:cNvSpPr/>
          <p:nvPr/>
        </p:nvSpPr>
        <p:spPr>
          <a:xfrm>
            <a:off x="1828800" y="1874520"/>
            <a:ext cx="2423160" cy="411480"/>
          </a:xfrm>
          <a:prstGeom prst="rect">
            <a:avLst/>
          </a:prstGeom>
          <a:noFill/>
          <a:ln/>
        </p:spPr>
        <p:txBody>
          <a:bodyPr wrap="square" lIns="0" tIns="0" rIns="0" bIns="0" rtlCol="0" anchor="ctr"/>
          <a:lstStyle/>
          <a:p>
            <a:pPr indent="0" marL="0">
              <a:buNone/>
            </a:pPr>
            <a:r>
              <a:rPr lang="en-US" sz="2000" b="1" dirty="0">
                <a:solidFill>
                  <a:srgbClr val="1B2432"/>
                </a:solidFill>
                <a:latin typeface="Calibri" pitchFamily="34" charset="0"/>
                <a:ea typeface="Calibri" pitchFamily="34" charset="-122"/>
                <a:cs typeface="Calibri" pitchFamily="34" charset="-120"/>
              </a:rPr>
              <a:t>Monitoring</a:t>
            </a:r>
            <a:endParaRPr lang="en-US" sz="2000" dirty="0"/>
          </a:p>
        </p:txBody>
      </p:sp>
      <p:sp>
        <p:nvSpPr>
          <p:cNvPr id="7" name="Text 4"/>
          <p:cNvSpPr/>
          <p:nvPr/>
        </p:nvSpPr>
        <p:spPr>
          <a:xfrm>
            <a:off x="1828800" y="2267712"/>
            <a:ext cx="2423160" cy="274320"/>
          </a:xfrm>
          <a:prstGeom prst="rect">
            <a:avLst/>
          </a:prstGeom>
          <a:noFill/>
          <a:ln/>
        </p:spPr>
        <p:txBody>
          <a:bodyPr wrap="square" lIns="0" tIns="0" rIns="0" bIns="0" rtlCol="0" anchor="ctr"/>
          <a:lstStyle/>
          <a:p>
            <a:pPr indent="0" marL="0">
              <a:buNone/>
            </a:pPr>
            <a:r>
              <a:rPr lang="en-US" sz="1200" i="1" dirty="0">
                <a:solidFill>
                  <a:srgbClr val="2DD4BF"/>
                </a:solidFill>
                <a:latin typeface="Calibri" pitchFamily="34" charset="0"/>
                <a:ea typeface="Calibri" pitchFamily="34" charset="-122"/>
                <a:cs typeface="Calibri" pitchFamily="34" charset="-120"/>
              </a:rPr>
              <a:t>Prometheus</a:t>
            </a:r>
            <a:endParaRPr lang="en-US" sz="1200" dirty="0"/>
          </a:p>
        </p:txBody>
      </p:sp>
      <p:sp>
        <p:nvSpPr>
          <p:cNvPr id="8" name="Text 5"/>
          <p:cNvSpPr/>
          <p:nvPr/>
        </p:nvSpPr>
        <p:spPr>
          <a:xfrm>
            <a:off x="1005840" y="2926080"/>
            <a:ext cx="3108960" cy="150876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64748B"/>
                </a:solidFill>
                <a:latin typeface="Calibri" pitchFamily="34" charset="0"/>
                <a:ea typeface="Calibri" pitchFamily="34" charset="-122"/>
                <a:cs typeface="Calibri" pitchFamily="34" charset="-120"/>
              </a:rPr>
              <a:t>Scrapes /metrics from Dispatcher + Replicas</a:t>
            </a:r>
            <a:endParaRPr lang="en-US" sz="1350" dirty="0"/>
          </a:p>
          <a:p>
            <a:pPr marL="342900" indent="-342900">
              <a:spcAft>
                <a:spcPts val="1000"/>
              </a:spcAft>
              <a:buSzPct val="100000"/>
              <a:buChar char="•"/>
            </a:pPr>
            <a:r>
              <a:rPr lang="en-US" sz="1350" dirty="0">
                <a:solidFill>
                  <a:srgbClr val="64748B"/>
                </a:solidFill>
                <a:latin typeface="Calibri" pitchFamily="34" charset="0"/>
                <a:ea typeface="Calibri" pitchFamily="34" charset="-122"/>
                <a:cs typeface="Calibri" pitchFamily="34" charset="-120"/>
              </a:rPr>
              <a:t>Live dashboards for request rate &amp; latency</a:t>
            </a:r>
            <a:endParaRPr lang="en-US" sz="1350" dirty="0"/>
          </a:p>
          <a:p>
            <a:pPr marL="342900" indent="-342900">
              <a:spcAft>
                <a:spcPts val="1000"/>
              </a:spcAft>
              <a:buSzPct val="100000"/>
              <a:buChar char="•"/>
            </a:pPr>
            <a:r>
              <a:rPr lang="en-US" sz="1350" dirty="0">
                <a:solidFill>
                  <a:srgbClr val="64748B"/>
                </a:solidFill>
                <a:latin typeface="Calibri" pitchFamily="34" charset="0"/>
                <a:ea typeface="Calibri" pitchFamily="34" charset="-122"/>
                <a:cs typeface="Calibri" pitchFamily="34" charset="-120"/>
              </a:rPr>
              <a:t>Single source of truth for the Autoscaler</a:t>
            </a:r>
            <a:endParaRPr lang="en-US" sz="1350" dirty="0"/>
          </a:p>
        </p:txBody>
      </p:sp>
      <p:sp>
        <p:nvSpPr>
          <p:cNvPr id="9" name="Shape 6"/>
          <p:cNvSpPr/>
          <p:nvPr/>
        </p:nvSpPr>
        <p:spPr>
          <a:xfrm>
            <a:off x="4754880" y="1554480"/>
            <a:ext cx="3794760" cy="3063240"/>
          </a:xfrm>
          <a:prstGeom prst="roundRect">
            <a:avLst>
              <a:gd name="adj" fmla="val 2388"/>
            </a:avLst>
          </a:prstGeom>
          <a:solidFill>
            <a:srgbClr val="F1F5F9"/>
          </a:solidFill>
          <a:ln/>
          <a:effectLst>
            <a:outerShdw sx="100000" sy="100000" kx="0" ky="0" algn="bl" rotWithShape="0" blurRad="101600" dist="25400" dir="5400000">
              <a:srgbClr val="000000">
                <a:alpha val="8000"/>
              </a:srgbClr>
            </a:outerShdw>
          </a:effectLst>
        </p:spPr>
      </p:sp>
      <p:sp>
        <p:nvSpPr>
          <p:cNvPr id="10" name="Shape 7"/>
          <p:cNvSpPr/>
          <p:nvPr/>
        </p:nvSpPr>
        <p:spPr>
          <a:xfrm>
            <a:off x="5074920" y="1874520"/>
            <a:ext cx="685800" cy="685800"/>
          </a:xfrm>
          <a:prstGeom prst="ellipse">
            <a:avLst/>
          </a:prstGeom>
          <a:solidFill>
            <a:srgbClr val="16233A"/>
          </a:solidFill>
          <a:ln/>
        </p:spPr>
      </p:sp>
      <p:pic>
        <p:nvPicPr>
          <p:cNvPr id="11" name="Image 1" descr="preencoded.png">    </p:cNvPr>
          <p:cNvPicPr>
            <a:picLocks noChangeAspect="1"/>
          </p:cNvPicPr>
          <p:nvPr/>
        </p:nvPicPr>
        <p:blipFill>
          <a:blip r:embed="rId2"/>
          <a:stretch>
            <a:fillRect/>
          </a:stretch>
        </p:blipFill>
        <p:spPr>
          <a:xfrm>
            <a:off x="5244084" y="2043684"/>
            <a:ext cx="347472" cy="347472"/>
          </a:xfrm>
          <a:prstGeom prst="rect">
            <a:avLst/>
          </a:prstGeom>
        </p:spPr>
      </p:pic>
      <p:sp>
        <p:nvSpPr>
          <p:cNvPr id="12" name="Text 8"/>
          <p:cNvSpPr/>
          <p:nvPr/>
        </p:nvSpPr>
        <p:spPr>
          <a:xfrm>
            <a:off x="5943600" y="1874520"/>
            <a:ext cx="2423160" cy="411480"/>
          </a:xfrm>
          <a:prstGeom prst="rect">
            <a:avLst/>
          </a:prstGeom>
          <a:noFill/>
          <a:ln/>
        </p:spPr>
        <p:txBody>
          <a:bodyPr wrap="square" lIns="0" tIns="0" rIns="0" bIns="0" rtlCol="0" anchor="ctr"/>
          <a:lstStyle/>
          <a:p>
            <a:pPr indent="0" marL="0">
              <a:buNone/>
            </a:pPr>
            <a:r>
              <a:rPr lang="en-US" sz="2000" b="1" dirty="0">
                <a:solidFill>
                  <a:srgbClr val="1B2432"/>
                </a:solidFill>
                <a:latin typeface="Calibri" pitchFamily="34" charset="0"/>
                <a:ea typeface="Calibri" pitchFamily="34" charset="-122"/>
                <a:cs typeface="Calibri" pitchFamily="34" charset="-120"/>
              </a:rPr>
              <a:t>Autoscaler</a:t>
            </a:r>
            <a:endParaRPr lang="en-US" sz="2000" dirty="0"/>
          </a:p>
        </p:txBody>
      </p:sp>
      <p:sp>
        <p:nvSpPr>
          <p:cNvPr id="13" name="Text 9"/>
          <p:cNvSpPr/>
          <p:nvPr/>
        </p:nvSpPr>
        <p:spPr>
          <a:xfrm>
            <a:off x="5943600" y="2267712"/>
            <a:ext cx="2423160" cy="274320"/>
          </a:xfrm>
          <a:prstGeom prst="rect">
            <a:avLst/>
          </a:prstGeom>
          <a:noFill/>
          <a:ln/>
        </p:spPr>
        <p:txBody>
          <a:bodyPr wrap="square" lIns="0" tIns="0" rIns="0" bIns="0" rtlCol="0" anchor="ctr"/>
          <a:lstStyle/>
          <a:p>
            <a:pPr indent="0" marL="0">
              <a:buNone/>
            </a:pPr>
            <a:r>
              <a:rPr lang="en-US" sz="1200" i="1" dirty="0">
                <a:solidFill>
                  <a:srgbClr val="2DD4BF"/>
                </a:solidFill>
                <a:latin typeface="Calibri" pitchFamily="34" charset="0"/>
                <a:ea typeface="Calibri" pitchFamily="34" charset="-122"/>
                <a:cs typeface="Calibri" pitchFamily="34" charset="-120"/>
              </a:rPr>
              <a:t>Custom control loop</a:t>
            </a:r>
            <a:endParaRPr lang="en-US" sz="1200" dirty="0"/>
          </a:p>
        </p:txBody>
      </p:sp>
      <p:sp>
        <p:nvSpPr>
          <p:cNvPr id="14" name="Text 10"/>
          <p:cNvSpPr/>
          <p:nvPr/>
        </p:nvSpPr>
        <p:spPr>
          <a:xfrm>
            <a:off x="5120640" y="2926080"/>
            <a:ext cx="3108960" cy="150876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64748B"/>
                </a:solidFill>
                <a:latin typeface="Calibri" pitchFamily="34" charset="0"/>
                <a:ea typeface="Calibri" pitchFamily="34" charset="-122"/>
                <a:cs typeface="Calibri" pitchFamily="34" charset="-120"/>
              </a:rPr>
              <a:t>Polls Prometheus every 15 seconds</a:t>
            </a:r>
            <a:endParaRPr lang="en-US" sz="1350" dirty="0"/>
          </a:p>
          <a:p>
            <a:pPr marL="342900" indent="-342900">
              <a:spcAft>
                <a:spcPts val="1000"/>
              </a:spcAft>
              <a:buSzPct val="100000"/>
              <a:buChar char="•"/>
            </a:pPr>
            <a:r>
              <a:rPr lang="en-US" sz="1350" dirty="0">
                <a:solidFill>
                  <a:srgbClr val="64748B"/>
                </a:solidFill>
                <a:latin typeface="Calibri" pitchFamily="34" charset="0"/>
                <a:ea typeface="Calibri" pitchFamily="34" charset="-122"/>
                <a:cs typeface="Calibri" pitchFamily="34" charset="-120"/>
              </a:rPr>
              <a:t>Decides the target replica count</a:t>
            </a:r>
            <a:endParaRPr lang="en-US" sz="1350" dirty="0"/>
          </a:p>
          <a:p>
            <a:pPr marL="342900" indent="-342900">
              <a:spcAft>
                <a:spcPts val="1000"/>
              </a:spcAft>
              <a:buSzPct val="100000"/>
              <a:buChar char="•"/>
            </a:pPr>
            <a:r>
              <a:rPr lang="en-US" sz="1350" dirty="0">
                <a:solidFill>
                  <a:srgbClr val="64748B"/>
                </a:solidFill>
                <a:latin typeface="Calibri" pitchFamily="34" charset="0"/>
                <a:ea typeface="Calibri" pitchFamily="34" charset="-122"/>
                <a:cs typeface="Calibri" pitchFamily="34" charset="-120"/>
              </a:rPr>
              <a:t>Calls the Kubernetes API to scale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indent="0" marL="0">
              <a:buNone/>
            </a:pPr>
            <a:r>
              <a:rPr lang="en-US" sz="3200" b="1" dirty="0">
                <a:solidFill>
                  <a:srgbClr val="16233A"/>
                </a:solidFill>
                <a:latin typeface="Cambria" pitchFamily="34" charset="0"/>
                <a:ea typeface="Cambria" pitchFamily="34" charset="-122"/>
                <a:cs typeface="Cambria" pitchFamily="34" charset="-120"/>
              </a:rPr>
              <a:t>How the Autoscaler Decides</a:t>
            </a:r>
            <a:endParaRPr lang="en-US" sz="3200" dirty="0"/>
          </a:p>
        </p:txBody>
      </p:sp>
      <p:sp>
        <p:nvSpPr>
          <p:cNvPr id="3" name="Shape 1"/>
          <p:cNvSpPr/>
          <p:nvPr/>
        </p:nvSpPr>
        <p:spPr>
          <a:xfrm>
            <a:off x="640080" y="1143000"/>
            <a:ext cx="7863840" cy="1234440"/>
          </a:xfrm>
          <a:prstGeom prst="roundRect">
            <a:avLst>
              <a:gd name="adj" fmla="val 7407"/>
            </a:avLst>
          </a:prstGeom>
          <a:solidFill>
            <a:srgbClr val="16233A"/>
          </a:solidFill>
          <a:ln/>
        </p:spPr>
      </p:sp>
      <p:sp>
        <p:nvSpPr>
          <p:cNvPr id="4" name="Text 2"/>
          <p:cNvSpPr/>
          <p:nvPr/>
        </p:nvSpPr>
        <p:spPr>
          <a:xfrm>
            <a:off x="640080" y="1234440"/>
            <a:ext cx="786384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desired replicas  =  ceil ( </a:t>
            </a:r>
            <a:pPr algn="ctr" indent="0" marL="0">
              <a:buNone/>
            </a:pPr>
            <a:r>
              <a:rPr lang="en-US" sz="2200" b="1" dirty="0">
                <a:solidFill>
                  <a:srgbClr val="2DD4BF"/>
                </a:solidFill>
                <a:latin typeface="Cambria" pitchFamily="34" charset="0"/>
                <a:ea typeface="Cambria" pitchFamily="34" charset="-122"/>
                <a:cs typeface="Cambria" pitchFamily="34" charset="-120"/>
              </a:rPr>
              <a:t>λ</a:t>
            </a:r>
            <a:pPr algn="ctr" indent="0" marL="0">
              <a:buNone/>
            </a:pPr>
            <a:r>
              <a:rPr lang="en-US" sz="2200" b="1" dirty="0">
                <a:solidFill>
                  <a:srgbClr val="FFFFFF"/>
                </a:solidFill>
                <a:latin typeface="Cambria" pitchFamily="34" charset="0"/>
                <a:ea typeface="Cambria" pitchFamily="34" charset="-122"/>
                <a:cs typeface="Cambria" pitchFamily="34" charset="-120"/>
              </a:rPr>
              <a:t> × </a:t>
            </a:r>
            <a:pPr algn="ctr" indent="0" marL="0">
              <a:buNone/>
            </a:pPr>
            <a:r>
              <a:rPr lang="en-US" sz="2200" b="1" dirty="0">
                <a:solidFill>
                  <a:srgbClr val="2DD4BF"/>
                </a:solidFill>
                <a:latin typeface="Cambria" pitchFamily="34" charset="0"/>
                <a:ea typeface="Cambria" pitchFamily="34" charset="-122"/>
                <a:cs typeface="Cambria" pitchFamily="34" charset="-120"/>
              </a:rPr>
              <a:t>W</a:t>
            </a:r>
            <a:pPr algn="ctr" indent="0" marL="0">
              <a:buNone/>
            </a:pPr>
            <a:r>
              <a:rPr lang="en-US" sz="2200" b="1" dirty="0">
                <a:solidFill>
                  <a:srgbClr val="FFFFFF"/>
                </a:solidFill>
                <a:latin typeface="Cambria" pitchFamily="34" charset="0"/>
                <a:ea typeface="Cambria" pitchFamily="34" charset="-122"/>
                <a:cs typeface="Cambria" pitchFamily="34" charset="-120"/>
              </a:rPr>
              <a:t> / target_utilization )</a:t>
            </a:r>
            <a:endParaRPr lang="en-US" sz="2200" dirty="0"/>
          </a:p>
        </p:txBody>
      </p:sp>
      <p:sp>
        <p:nvSpPr>
          <p:cNvPr id="5" name="Text 3"/>
          <p:cNvSpPr/>
          <p:nvPr/>
        </p:nvSpPr>
        <p:spPr>
          <a:xfrm>
            <a:off x="640080" y="1783080"/>
            <a:ext cx="7863840" cy="457200"/>
          </a:xfrm>
          <a:prstGeom prst="rect">
            <a:avLst/>
          </a:prstGeom>
          <a:noFill/>
          <a:ln/>
        </p:spPr>
        <p:txBody>
          <a:bodyPr wrap="square" lIns="0" tIns="0" rIns="0" bIns="0" rtlCol="0" anchor="t"/>
          <a:lstStyle/>
          <a:p>
            <a:pPr algn="ctr" indent="0" marL="0">
              <a:buNone/>
            </a:pPr>
            <a:r>
              <a:rPr lang="en-US" sz="1300" b="1" dirty="0">
                <a:solidFill>
                  <a:srgbClr val="2DD4BF"/>
                </a:solidFill>
                <a:latin typeface="Calibri" pitchFamily="34" charset="0"/>
                <a:ea typeface="Calibri" pitchFamily="34" charset="-122"/>
                <a:cs typeface="Calibri" pitchFamily="34" charset="-120"/>
              </a:rPr>
              <a:t>λ</a:t>
            </a:r>
            <a:pPr algn="ctr" indent="0" marL="0">
              <a:buNone/>
            </a:pPr>
            <a:r>
              <a:rPr lang="en-US" sz="1300" dirty="0">
                <a:solidFill>
                  <a:srgbClr val="5C7A99"/>
                </a:solidFill>
                <a:latin typeface="Calibri" pitchFamily="34" charset="0"/>
                <a:ea typeface="Calibri" pitchFamily="34" charset="-122"/>
                <a:cs typeface="Calibri" pitchFamily="34" charset="-120"/>
              </a:rPr>
              <a:t> = arrival rate (req/s)     </a:t>
            </a:r>
            <a:pPr algn="ctr" indent="0" marL="0">
              <a:buNone/>
            </a:pPr>
            <a:r>
              <a:rPr lang="en-US" sz="1300" b="1" dirty="0">
                <a:solidFill>
                  <a:srgbClr val="2DD4BF"/>
                </a:solidFill>
                <a:latin typeface="Calibri" pitchFamily="34" charset="0"/>
                <a:ea typeface="Calibri" pitchFamily="34" charset="-122"/>
                <a:cs typeface="Calibri" pitchFamily="34" charset="-120"/>
              </a:rPr>
              <a:t>W</a:t>
            </a:r>
            <a:pPr algn="ctr" indent="0" marL="0">
              <a:buNone/>
            </a:pPr>
            <a:r>
              <a:rPr lang="en-US" sz="1300" dirty="0">
                <a:solidFill>
                  <a:srgbClr val="5C7A99"/>
                </a:solidFill>
                <a:latin typeface="Calibri" pitchFamily="34" charset="0"/>
                <a:ea typeface="Calibri" pitchFamily="34" charset="-122"/>
                <a:cs typeface="Calibri" pitchFamily="34" charset="-120"/>
              </a:rPr>
              <a:t> = mean inference time (s), both read from Prometheus every 15s</a:t>
            </a:r>
            <a:endParaRPr lang="en-US" sz="1300" dirty="0"/>
          </a:p>
        </p:txBody>
      </p:sp>
      <p:sp>
        <p:nvSpPr>
          <p:cNvPr id="6" name="Text 4"/>
          <p:cNvSpPr/>
          <p:nvPr/>
        </p:nvSpPr>
        <p:spPr>
          <a:xfrm>
            <a:off x="640080" y="2606040"/>
            <a:ext cx="7863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Queueing theory sets the baseline. Three safety mechanisms keep it stable:</a:t>
            </a:r>
            <a:endParaRPr lang="en-US" sz="1400" dirty="0"/>
          </a:p>
        </p:txBody>
      </p:sp>
      <p:sp>
        <p:nvSpPr>
          <p:cNvPr id="7" name="Shape 5"/>
          <p:cNvSpPr/>
          <p:nvPr/>
        </p:nvSpPr>
        <p:spPr>
          <a:xfrm>
            <a:off x="640080" y="3154680"/>
            <a:ext cx="2514600" cy="1508760"/>
          </a:xfrm>
          <a:prstGeom prst="roundRect">
            <a:avLst>
              <a:gd name="adj" fmla="val 4848"/>
            </a:avLst>
          </a:prstGeom>
          <a:solidFill>
            <a:srgbClr val="F1F5F9"/>
          </a:solidFill>
          <a:ln/>
          <a:effectLst>
            <a:outerShdw sx="100000" sy="100000" kx="0" ky="0" algn="bl" rotWithShape="0" blurRad="101600" dist="25400" dir="5400000">
              <a:srgbClr val="000000">
                <a:alpha val="8000"/>
              </a:srgbClr>
            </a:outerShdw>
          </a:effectLst>
        </p:spPr>
      </p:sp>
      <p:sp>
        <p:nvSpPr>
          <p:cNvPr id="8" name="Shape 6"/>
          <p:cNvSpPr/>
          <p:nvPr/>
        </p:nvSpPr>
        <p:spPr>
          <a:xfrm>
            <a:off x="1641348" y="3337560"/>
            <a:ext cx="512064" cy="512064"/>
          </a:xfrm>
          <a:prstGeom prst="ellipse">
            <a:avLst/>
          </a:prstGeom>
          <a:solidFill>
            <a:srgbClr val="16233A"/>
          </a:solidFill>
          <a:ln/>
        </p:spPr>
      </p:sp>
      <p:pic>
        <p:nvPicPr>
          <p:cNvPr id="9" name="Image 0" descr="preencoded.png">    </p:cNvPr>
          <p:cNvPicPr>
            <a:picLocks noChangeAspect="1"/>
          </p:cNvPicPr>
          <p:nvPr/>
        </p:nvPicPr>
        <p:blipFill>
          <a:blip r:embed="rId1"/>
          <a:stretch>
            <a:fillRect/>
          </a:stretch>
        </p:blipFill>
        <p:spPr>
          <a:xfrm>
            <a:off x="1760220" y="3456432"/>
            <a:ext cx="274320" cy="274320"/>
          </a:xfrm>
          <a:prstGeom prst="rect">
            <a:avLst/>
          </a:prstGeom>
        </p:spPr>
      </p:pic>
      <p:sp>
        <p:nvSpPr>
          <p:cNvPr id="10" name="Text 7"/>
          <p:cNvSpPr/>
          <p:nvPr/>
        </p:nvSpPr>
        <p:spPr>
          <a:xfrm>
            <a:off x="777240" y="3931920"/>
            <a:ext cx="2240280" cy="320040"/>
          </a:xfrm>
          <a:prstGeom prst="rect">
            <a:avLst/>
          </a:prstGeom>
          <a:noFill/>
          <a:ln/>
        </p:spPr>
        <p:txBody>
          <a:bodyPr wrap="square" lIns="0" tIns="0" rIns="0" bIns="0" rtlCol="0" anchor="ctr"/>
          <a:lstStyle/>
          <a:p>
            <a:pPr algn="ctr" indent="0" marL="0">
              <a:buNone/>
            </a:pPr>
            <a:r>
              <a:rPr lang="en-US" sz="1350" b="1" dirty="0">
                <a:solidFill>
                  <a:srgbClr val="1B2432"/>
                </a:solidFill>
                <a:latin typeface="Calibri" pitchFamily="34" charset="0"/>
                <a:ea typeface="Calibri" pitchFamily="34" charset="-122"/>
                <a:cs typeface="Calibri" pitchFamily="34" charset="-120"/>
              </a:rPr>
              <a:t>Queue-Depth Kicker</a:t>
            </a:r>
            <a:endParaRPr lang="en-US" sz="1350" dirty="0"/>
          </a:p>
        </p:txBody>
      </p:sp>
      <p:sp>
        <p:nvSpPr>
          <p:cNvPr id="11" name="Text 8"/>
          <p:cNvSpPr/>
          <p:nvPr/>
        </p:nvSpPr>
        <p:spPr>
          <a:xfrm>
            <a:off x="822960" y="4233672"/>
            <a:ext cx="2148840" cy="41148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+1 replica the moment the dispatcher queue starts building</a:t>
            </a:r>
            <a:endParaRPr lang="en-US" sz="1050" dirty="0"/>
          </a:p>
        </p:txBody>
      </p:sp>
      <p:sp>
        <p:nvSpPr>
          <p:cNvPr id="12" name="Shape 9"/>
          <p:cNvSpPr/>
          <p:nvPr/>
        </p:nvSpPr>
        <p:spPr>
          <a:xfrm>
            <a:off x="3429000" y="3154680"/>
            <a:ext cx="2514600" cy="1508760"/>
          </a:xfrm>
          <a:prstGeom prst="roundRect">
            <a:avLst>
              <a:gd name="adj" fmla="val 4848"/>
            </a:avLst>
          </a:prstGeom>
          <a:solidFill>
            <a:srgbClr val="F1F5F9"/>
          </a:solidFill>
          <a:ln/>
          <a:effectLst>
            <a:outerShdw sx="100000" sy="100000" kx="0" ky="0" algn="bl" rotWithShape="0" blurRad="101600" dist="25400" dir="5400000">
              <a:srgbClr val="000000">
                <a:alpha val="8000"/>
              </a:srgbClr>
            </a:outerShdw>
          </a:effectLst>
        </p:spPr>
      </p:sp>
      <p:sp>
        <p:nvSpPr>
          <p:cNvPr id="13" name="Shape 10"/>
          <p:cNvSpPr/>
          <p:nvPr/>
        </p:nvSpPr>
        <p:spPr>
          <a:xfrm>
            <a:off x="4430268" y="3337560"/>
            <a:ext cx="512064" cy="512064"/>
          </a:xfrm>
          <a:prstGeom prst="ellipse">
            <a:avLst/>
          </a:prstGeom>
          <a:solidFill>
            <a:srgbClr val="16233A"/>
          </a:solidFill>
          <a:ln/>
        </p:spPr>
      </p:sp>
      <p:pic>
        <p:nvPicPr>
          <p:cNvPr id="14" name="Image 1" descr="preencoded.png">    </p:cNvPr>
          <p:cNvPicPr>
            <a:picLocks noChangeAspect="1"/>
          </p:cNvPicPr>
          <p:nvPr/>
        </p:nvPicPr>
        <p:blipFill>
          <a:blip r:embed="rId2"/>
          <a:stretch>
            <a:fillRect/>
          </a:stretch>
        </p:blipFill>
        <p:spPr>
          <a:xfrm>
            <a:off x="4549140" y="3456432"/>
            <a:ext cx="274320" cy="274320"/>
          </a:xfrm>
          <a:prstGeom prst="rect">
            <a:avLst/>
          </a:prstGeom>
        </p:spPr>
      </p:pic>
      <p:sp>
        <p:nvSpPr>
          <p:cNvPr id="15" name="Text 11"/>
          <p:cNvSpPr/>
          <p:nvPr/>
        </p:nvSpPr>
        <p:spPr>
          <a:xfrm>
            <a:off x="3566160" y="3931920"/>
            <a:ext cx="2240280" cy="320040"/>
          </a:xfrm>
          <a:prstGeom prst="rect">
            <a:avLst/>
          </a:prstGeom>
          <a:noFill/>
          <a:ln/>
        </p:spPr>
        <p:txBody>
          <a:bodyPr wrap="square" lIns="0" tIns="0" rIns="0" bIns="0" rtlCol="0" anchor="ctr"/>
          <a:lstStyle/>
          <a:p>
            <a:pPr algn="ctr" indent="0" marL="0">
              <a:buNone/>
            </a:pPr>
            <a:r>
              <a:rPr lang="en-US" sz="1350" b="1" dirty="0">
                <a:solidFill>
                  <a:srgbClr val="1B2432"/>
                </a:solidFill>
                <a:latin typeface="Calibri" pitchFamily="34" charset="0"/>
                <a:ea typeface="Calibri" pitchFamily="34" charset="-122"/>
                <a:cs typeface="Calibri" pitchFamily="34" charset="-120"/>
              </a:rPr>
              <a:t>Step-Limited Scaling</a:t>
            </a:r>
            <a:endParaRPr lang="en-US" sz="1350" dirty="0"/>
          </a:p>
        </p:txBody>
      </p:sp>
      <p:sp>
        <p:nvSpPr>
          <p:cNvPr id="16" name="Text 12"/>
          <p:cNvSpPr/>
          <p:nvPr/>
        </p:nvSpPr>
        <p:spPr>
          <a:xfrm>
            <a:off x="3611880" y="4233672"/>
            <a:ext cx="2148840" cy="41148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Up to +2 replicas up, -1 down, per 15s decision</a:t>
            </a:r>
            <a:endParaRPr lang="en-US" sz="1050" dirty="0"/>
          </a:p>
        </p:txBody>
      </p:sp>
      <p:sp>
        <p:nvSpPr>
          <p:cNvPr id="17" name="Shape 13"/>
          <p:cNvSpPr/>
          <p:nvPr/>
        </p:nvSpPr>
        <p:spPr>
          <a:xfrm>
            <a:off x="6217920" y="3154680"/>
            <a:ext cx="2514600" cy="1508760"/>
          </a:xfrm>
          <a:prstGeom prst="roundRect">
            <a:avLst>
              <a:gd name="adj" fmla="val 4848"/>
            </a:avLst>
          </a:prstGeom>
          <a:solidFill>
            <a:srgbClr val="F1F5F9"/>
          </a:solidFill>
          <a:ln/>
          <a:effectLst>
            <a:outerShdw sx="100000" sy="100000" kx="0" ky="0" algn="bl" rotWithShape="0" blurRad="101600" dist="25400" dir="5400000">
              <a:srgbClr val="000000">
                <a:alpha val="8000"/>
              </a:srgbClr>
            </a:outerShdw>
          </a:effectLst>
        </p:spPr>
      </p:sp>
      <p:sp>
        <p:nvSpPr>
          <p:cNvPr id="18" name="Shape 14"/>
          <p:cNvSpPr/>
          <p:nvPr/>
        </p:nvSpPr>
        <p:spPr>
          <a:xfrm>
            <a:off x="7219188" y="3337560"/>
            <a:ext cx="512064" cy="512064"/>
          </a:xfrm>
          <a:prstGeom prst="ellipse">
            <a:avLst/>
          </a:prstGeom>
          <a:solidFill>
            <a:srgbClr val="16233A"/>
          </a:solidFill>
          <a:ln/>
        </p:spPr>
      </p:sp>
      <p:pic>
        <p:nvPicPr>
          <p:cNvPr id="19" name="Image 2" descr="preencoded.png">    </p:cNvPr>
          <p:cNvPicPr>
            <a:picLocks noChangeAspect="1"/>
          </p:cNvPicPr>
          <p:nvPr/>
        </p:nvPicPr>
        <p:blipFill>
          <a:blip r:embed="rId3"/>
          <a:stretch>
            <a:fillRect/>
          </a:stretch>
        </p:blipFill>
        <p:spPr>
          <a:xfrm>
            <a:off x="7338060" y="3456432"/>
            <a:ext cx="274320" cy="274320"/>
          </a:xfrm>
          <a:prstGeom prst="rect">
            <a:avLst/>
          </a:prstGeom>
        </p:spPr>
      </p:pic>
      <p:sp>
        <p:nvSpPr>
          <p:cNvPr id="20" name="Text 15"/>
          <p:cNvSpPr/>
          <p:nvPr/>
        </p:nvSpPr>
        <p:spPr>
          <a:xfrm>
            <a:off x="6355080" y="3931920"/>
            <a:ext cx="2240280" cy="320040"/>
          </a:xfrm>
          <a:prstGeom prst="rect">
            <a:avLst/>
          </a:prstGeom>
          <a:noFill/>
          <a:ln/>
        </p:spPr>
        <p:txBody>
          <a:bodyPr wrap="square" lIns="0" tIns="0" rIns="0" bIns="0" rtlCol="0" anchor="ctr"/>
          <a:lstStyle/>
          <a:p>
            <a:pPr algn="ctr" indent="0" marL="0">
              <a:buNone/>
            </a:pPr>
            <a:r>
              <a:rPr lang="en-US" sz="1350" b="1" dirty="0">
                <a:solidFill>
                  <a:srgbClr val="1B2432"/>
                </a:solidFill>
                <a:latin typeface="Calibri" pitchFamily="34" charset="0"/>
                <a:ea typeface="Calibri" pitchFamily="34" charset="-122"/>
                <a:cs typeface="Calibri" pitchFamily="34" charset="-120"/>
              </a:rPr>
              <a:t>Asymmetric Cooldowns</a:t>
            </a:r>
            <a:endParaRPr lang="en-US" sz="1350" dirty="0"/>
          </a:p>
        </p:txBody>
      </p:sp>
      <p:sp>
        <p:nvSpPr>
          <p:cNvPr id="21" name="Text 16"/>
          <p:cNvSpPr/>
          <p:nvPr/>
        </p:nvSpPr>
        <p:spPr>
          <a:xfrm>
            <a:off x="6400800" y="4233672"/>
            <a:ext cx="2148840" cy="41148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15s before scaling up again, 180s before scaling down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a:ln/>
        </p:spPr>
        <p:txBody>
          <a:bodyPr wrap="square" lIns="0" tIns="0" rIns="0" bIns="0" rtlCol="0" anchor="ctr"/>
          <a:lstStyle/>
          <a:p>
            <a:pPr indent="0" marL="0">
              <a:buNone/>
            </a:pPr>
            <a:r>
              <a:rPr lang="en-US" sz="3200" b="1" dirty="0">
                <a:solidFill>
                  <a:srgbClr val="16233A"/>
                </a:solidFill>
                <a:latin typeface="Cambria" pitchFamily="34" charset="0"/>
                <a:ea typeface="Cambria" pitchFamily="34" charset="-122"/>
                <a:cs typeface="Cambria" pitchFamily="34" charset="-120"/>
              </a:rPr>
              <a:t>Experiment Setup</a:t>
            </a:r>
            <a:endParaRPr lang="en-US" sz="3200" dirty="0"/>
          </a:p>
        </p:txBody>
      </p:sp>
      <p:sp>
        <p:nvSpPr>
          <p:cNvPr id="3" name="Text 1"/>
          <p:cNvSpPr/>
          <p:nvPr/>
        </p:nvSpPr>
        <p:spPr>
          <a:xfrm>
            <a:off x="640080" y="914400"/>
            <a:ext cx="7863840" cy="32004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Same workload replayed on every run — 630s, peak 44 req/s</a:t>
            </a:r>
            <a:endParaRPr lang="en-US" sz="1350" dirty="0"/>
          </a:p>
        </p:txBody>
      </p:sp>
      <p:graphicFrame>
        <p:nvGraphicFramePr>
          <p:cNvPr id="4" name="Chart 0" descr=""/>
          <p:cNvGraphicFramePr/>
          <p:nvPr/>
        </p:nvGraphicFramePr>
        <p:xfrm>
          <a:off x="640080" y="1280160"/>
          <a:ext cx="7863840" cy="1600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0080" y="3200400"/>
            <a:ext cx="2514600" cy="1463040"/>
          </a:xfrm>
          <a:prstGeom prst="roundRect">
            <a:avLst>
              <a:gd name="adj" fmla="val 5000"/>
            </a:avLst>
          </a:prstGeom>
          <a:solidFill>
            <a:srgbClr val="F1F5F9"/>
          </a:solidFill>
          <a:ln/>
          <a:effectLst>
            <a:outerShdw sx="100000" sy="100000" kx="0" ky="0" algn="bl" rotWithShape="0" blurRad="101600" dist="25400" dir="5400000">
              <a:srgbClr val="000000">
                <a:alpha val="8000"/>
              </a:srgbClr>
            </a:outerShdw>
          </a:effectLst>
        </p:spPr>
      </p:sp>
      <p:sp>
        <p:nvSpPr>
          <p:cNvPr id="6" name="Shape 3"/>
          <p:cNvSpPr/>
          <p:nvPr/>
        </p:nvSpPr>
        <p:spPr>
          <a:xfrm>
            <a:off x="1623060" y="3401568"/>
            <a:ext cx="548640" cy="548640"/>
          </a:xfrm>
          <a:prstGeom prst="ellipse">
            <a:avLst/>
          </a:prstGeom>
          <a:solidFill>
            <a:srgbClr val="16233A"/>
          </a:solidFill>
          <a:ln/>
        </p:spPr>
      </p:sp>
      <p:pic>
        <p:nvPicPr>
          <p:cNvPr id="7" name="Image 0" descr="preencoded.png">    </p:cNvPr>
          <p:cNvPicPr>
            <a:picLocks noChangeAspect="1"/>
          </p:cNvPicPr>
          <p:nvPr/>
        </p:nvPicPr>
        <p:blipFill>
          <a:blip r:embed="rId2"/>
          <a:stretch>
            <a:fillRect/>
          </a:stretch>
        </p:blipFill>
        <p:spPr>
          <a:xfrm>
            <a:off x="1751076" y="3547872"/>
            <a:ext cx="292608" cy="292608"/>
          </a:xfrm>
          <a:prstGeom prst="rect">
            <a:avLst/>
          </a:prstGeom>
        </p:spPr>
      </p:pic>
      <p:sp>
        <p:nvSpPr>
          <p:cNvPr id="8" name="Text 4"/>
          <p:cNvSpPr/>
          <p:nvPr/>
        </p:nvSpPr>
        <p:spPr>
          <a:xfrm>
            <a:off x="777240" y="4041648"/>
            <a:ext cx="2240280" cy="320040"/>
          </a:xfrm>
          <a:prstGeom prst="rect">
            <a:avLst/>
          </a:prstGeom>
          <a:noFill/>
          <a:ln/>
        </p:spPr>
        <p:txBody>
          <a:bodyPr wrap="square" lIns="0" tIns="0" rIns="0" bIns="0" rtlCol="0" anchor="ctr"/>
          <a:lstStyle/>
          <a:p>
            <a:pPr algn="ctr" indent="0" marL="0">
              <a:buNone/>
            </a:pPr>
            <a:r>
              <a:rPr lang="en-US" sz="1400" b="1" dirty="0">
                <a:solidFill>
                  <a:srgbClr val="1B2432"/>
                </a:solidFill>
                <a:latin typeface="Calibri" pitchFamily="34" charset="0"/>
                <a:ea typeface="Calibri" pitchFamily="34" charset="-122"/>
                <a:cs typeface="Calibri" pitchFamily="34" charset="-120"/>
              </a:rPr>
              <a:t>Custom Autoscaler</a:t>
            </a:r>
            <a:endParaRPr lang="en-US" sz="1400" dirty="0"/>
          </a:p>
        </p:txBody>
      </p:sp>
      <p:sp>
        <p:nvSpPr>
          <p:cNvPr id="9" name="Text 5"/>
          <p:cNvSpPr/>
          <p:nvPr/>
        </p:nvSpPr>
        <p:spPr>
          <a:xfrm>
            <a:off x="777240" y="4343400"/>
            <a:ext cx="2240280" cy="27432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Queueing-theory control loop</a:t>
            </a:r>
            <a:endParaRPr lang="en-US" sz="1150" dirty="0"/>
          </a:p>
        </p:txBody>
      </p:sp>
      <p:sp>
        <p:nvSpPr>
          <p:cNvPr id="10" name="Shape 6"/>
          <p:cNvSpPr/>
          <p:nvPr/>
        </p:nvSpPr>
        <p:spPr>
          <a:xfrm>
            <a:off x="3429000" y="3200400"/>
            <a:ext cx="2514600" cy="1463040"/>
          </a:xfrm>
          <a:prstGeom prst="roundRect">
            <a:avLst>
              <a:gd name="adj" fmla="val 5000"/>
            </a:avLst>
          </a:prstGeom>
          <a:solidFill>
            <a:srgbClr val="F1F5F9"/>
          </a:solidFill>
          <a:ln/>
          <a:effectLst>
            <a:outerShdw sx="100000" sy="100000" kx="0" ky="0" algn="bl" rotWithShape="0" blurRad="101600" dist="25400" dir="5400000">
              <a:srgbClr val="000000">
                <a:alpha val="8000"/>
              </a:srgbClr>
            </a:outerShdw>
          </a:effectLst>
        </p:spPr>
      </p:sp>
      <p:sp>
        <p:nvSpPr>
          <p:cNvPr id="11" name="Shape 7"/>
          <p:cNvSpPr/>
          <p:nvPr/>
        </p:nvSpPr>
        <p:spPr>
          <a:xfrm>
            <a:off x="4411980" y="3401568"/>
            <a:ext cx="548640" cy="548640"/>
          </a:xfrm>
          <a:prstGeom prst="ellipse">
            <a:avLst/>
          </a:prstGeom>
          <a:solidFill>
            <a:srgbClr val="16233A"/>
          </a:solidFill>
          <a:ln/>
        </p:spPr>
      </p:sp>
      <p:pic>
        <p:nvPicPr>
          <p:cNvPr id="12" name="Image 1" descr="preencoded.png">    </p:cNvPr>
          <p:cNvPicPr>
            <a:picLocks noChangeAspect="1"/>
          </p:cNvPicPr>
          <p:nvPr/>
        </p:nvPicPr>
        <p:blipFill>
          <a:blip r:embed="rId3"/>
          <a:stretch>
            <a:fillRect/>
          </a:stretch>
        </p:blipFill>
        <p:spPr>
          <a:xfrm>
            <a:off x="4539996" y="3547872"/>
            <a:ext cx="292608" cy="292608"/>
          </a:xfrm>
          <a:prstGeom prst="rect">
            <a:avLst/>
          </a:prstGeom>
        </p:spPr>
      </p:pic>
      <p:sp>
        <p:nvSpPr>
          <p:cNvPr id="13" name="Text 8"/>
          <p:cNvSpPr/>
          <p:nvPr/>
        </p:nvSpPr>
        <p:spPr>
          <a:xfrm>
            <a:off x="3566160" y="4041648"/>
            <a:ext cx="2240280" cy="320040"/>
          </a:xfrm>
          <a:prstGeom prst="rect">
            <a:avLst/>
          </a:prstGeom>
          <a:noFill/>
          <a:ln/>
        </p:spPr>
        <p:txBody>
          <a:bodyPr wrap="square" lIns="0" tIns="0" rIns="0" bIns="0" rtlCol="0" anchor="ctr"/>
          <a:lstStyle/>
          <a:p>
            <a:pPr algn="ctr" indent="0" marL="0">
              <a:buNone/>
            </a:pPr>
            <a:r>
              <a:rPr lang="en-US" sz="1400" b="1" dirty="0">
                <a:solidFill>
                  <a:srgbClr val="1B2432"/>
                </a:solidFill>
                <a:latin typeface="Calibri" pitchFamily="34" charset="0"/>
                <a:ea typeface="Calibri" pitchFamily="34" charset="-122"/>
                <a:cs typeface="Calibri" pitchFamily="34" charset="-120"/>
              </a:rPr>
              <a:t>Kubernetes HPA</a:t>
            </a:r>
            <a:endParaRPr lang="en-US" sz="1400" dirty="0"/>
          </a:p>
        </p:txBody>
      </p:sp>
      <p:sp>
        <p:nvSpPr>
          <p:cNvPr id="14" name="Text 9"/>
          <p:cNvSpPr/>
          <p:nvPr/>
        </p:nvSpPr>
        <p:spPr>
          <a:xfrm>
            <a:off x="3566160" y="4343400"/>
            <a:ext cx="2240280" cy="27432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70% CPU target</a:t>
            </a:r>
            <a:endParaRPr lang="en-US" sz="1150" dirty="0"/>
          </a:p>
        </p:txBody>
      </p:sp>
      <p:sp>
        <p:nvSpPr>
          <p:cNvPr id="15" name="Shape 10"/>
          <p:cNvSpPr/>
          <p:nvPr/>
        </p:nvSpPr>
        <p:spPr>
          <a:xfrm>
            <a:off x="6217920" y="3200400"/>
            <a:ext cx="2514600" cy="1463040"/>
          </a:xfrm>
          <a:prstGeom prst="roundRect">
            <a:avLst>
              <a:gd name="adj" fmla="val 5000"/>
            </a:avLst>
          </a:prstGeom>
          <a:solidFill>
            <a:srgbClr val="F1F5F9"/>
          </a:solidFill>
          <a:ln/>
          <a:effectLst>
            <a:outerShdw sx="100000" sy="100000" kx="0" ky="0" algn="bl" rotWithShape="0" blurRad="101600" dist="25400" dir="5400000">
              <a:srgbClr val="000000">
                <a:alpha val="8000"/>
              </a:srgbClr>
            </a:outerShdw>
          </a:effectLst>
        </p:spPr>
      </p:sp>
      <p:sp>
        <p:nvSpPr>
          <p:cNvPr id="16" name="Shape 11"/>
          <p:cNvSpPr/>
          <p:nvPr/>
        </p:nvSpPr>
        <p:spPr>
          <a:xfrm>
            <a:off x="7200900" y="3401568"/>
            <a:ext cx="548640" cy="548640"/>
          </a:xfrm>
          <a:prstGeom prst="ellipse">
            <a:avLst/>
          </a:prstGeom>
          <a:solidFill>
            <a:srgbClr val="16233A"/>
          </a:solidFill>
          <a:ln/>
        </p:spPr>
      </p:sp>
      <p:pic>
        <p:nvPicPr>
          <p:cNvPr id="17" name="Image 2" descr="preencoded.png">    </p:cNvPr>
          <p:cNvPicPr>
            <a:picLocks noChangeAspect="1"/>
          </p:cNvPicPr>
          <p:nvPr/>
        </p:nvPicPr>
        <p:blipFill>
          <a:blip r:embed="rId4"/>
          <a:stretch>
            <a:fillRect/>
          </a:stretch>
        </p:blipFill>
        <p:spPr>
          <a:xfrm>
            <a:off x="7328916" y="3547872"/>
            <a:ext cx="292608" cy="292608"/>
          </a:xfrm>
          <a:prstGeom prst="rect">
            <a:avLst/>
          </a:prstGeom>
        </p:spPr>
      </p:pic>
      <p:sp>
        <p:nvSpPr>
          <p:cNvPr id="18" name="Text 12"/>
          <p:cNvSpPr/>
          <p:nvPr/>
        </p:nvSpPr>
        <p:spPr>
          <a:xfrm>
            <a:off x="6355080" y="4041648"/>
            <a:ext cx="2240280" cy="320040"/>
          </a:xfrm>
          <a:prstGeom prst="rect">
            <a:avLst/>
          </a:prstGeom>
          <a:noFill/>
          <a:ln/>
        </p:spPr>
        <p:txBody>
          <a:bodyPr wrap="square" lIns="0" tIns="0" rIns="0" bIns="0" rtlCol="0" anchor="ctr"/>
          <a:lstStyle/>
          <a:p>
            <a:pPr algn="ctr" indent="0" marL="0">
              <a:buNone/>
            </a:pPr>
            <a:r>
              <a:rPr lang="en-US" sz="1400" b="1" dirty="0">
                <a:solidFill>
                  <a:srgbClr val="1B2432"/>
                </a:solidFill>
                <a:latin typeface="Calibri" pitchFamily="34" charset="0"/>
                <a:ea typeface="Calibri" pitchFamily="34" charset="-122"/>
                <a:cs typeface="Calibri" pitchFamily="34" charset="-120"/>
              </a:rPr>
              <a:t>Kubernetes HPA</a:t>
            </a:r>
            <a:endParaRPr lang="en-US" sz="1400" dirty="0"/>
          </a:p>
        </p:txBody>
      </p:sp>
      <p:sp>
        <p:nvSpPr>
          <p:cNvPr id="19" name="Text 13"/>
          <p:cNvSpPr/>
          <p:nvPr/>
        </p:nvSpPr>
        <p:spPr>
          <a:xfrm>
            <a:off x="6355080" y="4343400"/>
            <a:ext cx="2240280" cy="27432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90% CPU target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50292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Latency Under Load</a:t>
            </a:r>
            <a:endParaRPr lang="en-US" sz="3000" dirty="0"/>
          </a:p>
        </p:txBody>
      </p:sp>
      <p:sp>
        <p:nvSpPr>
          <p:cNvPr id="3" name="Text 1"/>
          <p:cNvSpPr/>
          <p:nvPr/>
        </p:nvSpPr>
        <p:spPr>
          <a:xfrm>
            <a:off x="640080" y="841248"/>
            <a:ext cx="7863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Only the custom autoscaler pulls p99 latency back under the 0.5s SLO before the spike ends.</a:t>
            </a:r>
            <a:endParaRPr lang="en-US" sz="1400" dirty="0"/>
          </a:p>
        </p:txBody>
      </p:sp>
      <p:pic>
        <p:nvPicPr>
          <p:cNvPr id="4" name="Image 0" descr="D:/Tu Ilmenau/Semester 2/CLoud Computing/Custom_Kubernetes_HPA/results/comparison_latency_p99.png">    </p:cNvPr>
          <p:cNvPicPr>
            <a:picLocks noChangeAspect="1"/>
          </p:cNvPicPr>
          <p:nvPr/>
        </p:nvPicPr>
        <p:blipFill>
          <a:blip r:embed="rId1"/>
          <a:stretch>
            <a:fillRect/>
          </a:stretch>
        </p:blipFill>
        <p:spPr>
          <a:xfrm>
            <a:off x="640080" y="1280160"/>
            <a:ext cx="7863840" cy="31455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50292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Scaling Behavior</a:t>
            </a:r>
            <a:endParaRPr lang="en-US" sz="3000" dirty="0"/>
          </a:p>
        </p:txBody>
      </p:sp>
      <p:sp>
        <p:nvSpPr>
          <p:cNvPr id="3" name="Text 1"/>
          <p:cNvSpPr/>
          <p:nvPr/>
        </p:nvSpPr>
        <p:spPr>
          <a:xfrm>
            <a:off x="640080" y="841248"/>
            <a:ext cx="7863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custom autoscaler is the only one that moves — stock HPA stays pinned at 2 replicas the entire run.</a:t>
            </a:r>
            <a:endParaRPr lang="en-US" sz="1400" dirty="0"/>
          </a:p>
        </p:txBody>
      </p:sp>
      <p:pic>
        <p:nvPicPr>
          <p:cNvPr id="4" name="Image 0" descr="D:/Tu Ilmenau/Semester 2/CLoud Computing/Custom_Kubernetes_HPA/results/comparison_cpu_cores.png">    </p:cNvPr>
          <p:cNvPicPr>
            <a:picLocks noChangeAspect="1"/>
          </p:cNvPicPr>
          <p:nvPr/>
        </p:nvPicPr>
        <p:blipFill>
          <a:blip r:embed="rId1"/>
          <a:stretch>
            <a:fillRect/>
          </a:stretch>
        </p:blipFill>
        <p:spPr>
          <a:xfrm>
            <a:off x="640080" y="1280160"/>
            <a:ext cx="7863840" cy="31455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54864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Start-of-Run vs. End-of-Run</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2377440"/>
        </p:xfrm>
        <a:graphic>
          <a:graphicData uri="http://schemas.openxmlformats.org/drawingml/2006/table">
            <a:tbl>
              <a:tblPr/>
              <a:tblGrid>
                <a:gridCol w="2194560"/>
                <a:gridCol w="1417320"/>
                <a:gridCol w="1417320"/>
                <a:gridCol w="1417320"/>
                <a:gridCol w="1417320"/>
              </a:tblGrid>
              <a:tr h="5943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Autoscaler</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3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p99 Latency</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(start)</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3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p99 Latency</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3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CPU Cores</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(start)</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3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CPU Cores</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33A"/>
                    </a:solidFill>
                  </a:tcPr>
                </a:tc>
              </a:tr>
              <a:tr h="594360">
                <a:tc>
                  <a:txBody>
                    <a:bodyPr/>
                    <a:lstStyle/>
                    <a:p>
                      <a:pPr algn="l" indent="0" marL="0">
                        <a:buNone/>
                      </a:pPr>
                      <a:r>
                        <a:rPr lang="en-US" sz="1300" b="1" dirty="0">
                          <a:solidFill>
                            <a:srgbClr val="1B2432"/>
                          </a:solidFill>
                          <a:latin typeface="Calibri" pitchFamily="34" charset="0"/>
                          <a:ea typeface="Calibri" pitchFamily="34" charset="-122"/>
                          <a:cs typeface="Calibri" pitchFamily="34" charset="-120"/>
                        </a:rPr>
                        <a:t>Custom Autoscaler</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100 ms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100 ms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1B2432"/>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r>
              <a:tr h="594360">
                <a:tc>
                  <a:txBody>
                    <a:bodyPr/>
                    <a:lstStyle/>
                    <a:p>
                      <a:pPr algn="l" indent="0" marL="0">
                        <a:buNone/>
                      </a:pPr>
                      <a:r>
                        <a:rPr lang="en-US" sz="1300" b="1" dirty="0">
                          <a:solidFill>
                            <a:srgbClr val="1B2432"/>
                          </a:solidFill>
                          <a:latin typeface="Calibri" pitchFamily="34" charset="0"/>
                          <a:ea typeface="Calibri" pitchFamily="34" charset="-122"/>
                          <a:cs typeface="Calibri" pitchFamily="34" charset="-120"/>
                        </a:rPr>
                        <a:t>K8s HPA — 70% CPU</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100 ms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100 ms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r>
              <a:tr h="594360">
                <a:tc>
                  <a:txBody>
                    <a:bodyPr/>
                    <a:lstStyle/>
                    <a:p>
                      <a:pPr algn="l" indent="0" marL="0">
                        <a:buNone/>
                      </a:pPr>
                      <a:r>
                        <a:rPr lang="en-US" sz="1300" b="1" dirty="0">
                          <a:solidFill>
                            <a:srgbClr val="1B2432"/>
                          </a:solidFill>
                          <a:latin typeface="Calibri" pitchFamily="34" charset="0"/>
                          <a:ea typeface="Calibri" pitchFamily="34" charset="-122"/>
                          <a:cs typeface="Calibri" pitchFamily="34" charset="-120"/>
                        </a:rPr>
                        <a:t>K8s HPA — 90% CPU</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1B2432"/>
                          </a:solidFill>
                          <a:latin typeface="Calibri" pitchFamily="34" charset="0"/>
                          <a:ea typeface="Calibri" pitchFamily="34" charset="-122"/>
                          <a:cs typeface="Calibri" pitchFamily="34" charset="-120"/>
                        </a:rPr>
                        <a:t>326 ms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100 ms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B24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r>
            </a:tbl>
          </a:graphicData>
        </a:graphic>
      </p:graphicFrame>
      <p:sp>
        <p:nvSpPr>
          <p:cNvPr id="4" name="Text 1"/>
          <p:cNvSpPr/>
          <p:nvPr/>
        </p:nvSpPr>
        <p:spPr>
          <a:xfrm>
            <a:off x="640080" y="3977640"/>
            <a:ext cx="7863840" cy="365760"/>
          </a:xfrm>
          <a:prstGeom prst="rect">
            <a:avLst/>
          </a:prstGeom>
          <a:noFill/>
          <a:ln/>
        </p:spPr>
        <p:txBody>
          <a:bodyPr wrap="square" lIns="0" tIns="0" rIns="0" bIns="0" rtlCol="0" anchor="ctr"/>
          <a:lstStyle/>
          <a:p>
            <a:pPr indent="0" marL="0">
              <a:buNone/>
            </a:pPr>
            <a:r>
              <a:rPr lang="en-US" sz="1400" b="1" i="1" dirty="0">
                <a:solidFill>
                  <a:srgbClr val="2DD4BF"/>
                </a:solidFill>
                <a:latin typeface="Calibri" pitchFamily="34" charset="0"/>
                <a:ea typeface="Calibri" pitchFamily="34" charset="-122"/>
                <a:cs typeface="Calibri" pitchFamily="34" charset="-120"/>
              </a:rPr>
              <a:t>6× more compute</a:t>
            </a:r>
            <a:pPr indent="0" marL="0">
              <a:buNone/>
            </a:pPr>
            <a:r>
              <a:rPr lang="en-US" sz="1400" i="1" dirty="0">
                <a:solidFill>
                  <a:srgbClr val="64748B"/>
                </a:solidFill>
                <a:latin typeface="Calibri" pitchFamily="34" charset="0"/>
                <a:ea typeface="Calibri" pitchFamily="34" charset="-122"/>
                <a:cs typeface="Calibri" pitchFamily="34" charset="-120"/>
              </a:rPr>
              <a:t> at the end for the custom autoscaler — because it actually reacted to load.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502920"/>
          </a:xfrm>
          <a:prstGeom prst="rect">
            <a:avLst/>
          </a:prstGeom>
          <a:noFill/>
          <a:ln/>
        </p:spPr>
        <p:txBody>
          <a:bodyPr wrap="square" lIns="0" tIns="0" rIns="0" bIns="0" rtlCol="0" anchor="ctr"/>
          <a:lstStyle/>
          <a:p>
            <a:pPr indent="0" marL="0">
              <a:buNone/>
            </a:pPr>
            <a:r>
              <a:rPr lang="en-US" sz="3000" b="1" dirty="0">
                <a:solidFill>
                  <a:srgbClr val="16233A"/>
                </a:solidFill>
                <a:latin typeface="Cambria" pitchFamily="34" charset="0"/>
                <a:ea typeface="Cambria" pitchFamily="34" charset="-122"/>
                <a:cs typeface="Cambria" pitchFamily="34" charset="-120"/>
              </a:rPr>
              <a:t>Why Stock HPA Never Scaled</a:t>
            </a:r>
            <a:endParaRPr lang="en-US" sz="3000" dirty="0"/>
          </a:p>
        </p:txBody>
      </p:sp>
      <p:sp>
        <p:nvSpPr>
          <p:cNvPr id="3" name="Text 1"/>
          <p:cNvSpPr/>
          <p:nvPr/>
        </p:nvSpPr>
        <p:spPr>
          <a:xfrm>
            <a:off x="640080" y="822960"/>
            <a:ext cx="7863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dispatcher queue caps replica CPU at ~76% — regardless of true demand.</a:t>
            </a:r>
            <a:endParaRPr lang="en-US" sz="1400" dirty="0"/>
          </a:p>
        </p:txBody>
      </p:sp>
      <p:sp>
        <p:nvSpPr>
          <p:cNvPr id="4" name="Shape 2"/>
          <p:cNvSpPr/>
          <p:nvPr/>
        </p:nvSpPr>
        <p:spPr>
          <a:xfrm>
            <a:off x="1188720" y="1234440"/>
            <a:ext cx="292608" cy="182880"/>
          </a:xfrm>
          <a:prstGeom prst="rect">
            <a:avLst/>
          </a:prstGeom>
          <a:solidFill>
            <a:srgbClr val="2DD4BF">
              <a:alpha val="30000"/>
            </a:srgbClr>
          </a:solidFill>
          <a:ln/>
        </p:spPr>
      </p:sp>
      <p:sp>
        <p:nvSpPr>
          <p:cNvPr id="5" name="Text 3"/>
          <p:cNvSpPr/>
          <p:nvPr/>
        </p:nvSpPr>
        <p:spPr>
          <a:xfrm>
            <a:off x="1554480" y="1179576"/>
            <a:ext cx="237744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Tolerance band (no scaling)</a:t>
            </a:r>
            <a:endParaRPr lang="en-US" sz="1100" dirty="0"/>
          </a:p>
        </p:txBody>
      </p:sp>
      <p:sp>
        <p:nvSpPr>
          <p:cNvPr id="6" name="Shape 4"/>
          <p:cNvSpPr/>
          <p:nvPr/>
        </p:nvSpPr>
        <p:spPr>
          <a:xfrm>
            <a:off x="4206240" y="1234440"/>
            <a:ext cx="292608" cy="182880"/>
          </a:xfrm>
          <a:prstGeom prst="rect">
            <a:avLst/>
          </a:prstGeom>
          <a:solidFill>
            <a:srgbClr val="16233A"/>
          </a:solidFill>
          <a:ln/>
        </p:spPr>
      </p:sp>
      <p:sp>
        <p:nvSpPr>
          <p:cNvPr id="7" name="Text 5"/>
          <p:cNvSpPr/>
          <p:nvPr/>
        </p:nvSpPr>
        <p:spPr>
          <a:xfrm>
            <a:off x="4572000" y="1179576"/>
            <a:ext cx="1828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Actual utilization</a:t>
            </a:r>
            <a:endParaRPr lang="en-US" sz="1100" dirty="0"/>
          </a:p>
        </p:txBody>
      </p:sp>
      <p:sp>
        <p:nvSpPr>
          <p:cNvPr id="8" name="Shape 6"/>
          <p:cNvSpPr/>
          <p:nvPr/>
        </p:nvSpPr>
        <p:spPr>
          <a:xfrm>
            <a:off x="6309360" y="1325880"/>
            <a:ext cx="292608" cy="0"/>
          </a:xfrm>
          <a:prstGeom prst="line">
            <a:avLst/>
          </a:prstGeom>
          <a:noFill/>
          <a:ln w="25400">
            <a:solidFill>
              <a:srgbClr val="5C7A99"/>
            </a:solidFill>
            <a:prstDash val="dash"/>
          </a:ln>
        </p:spPr>
      </p:sp>
      <p:sp>
        <p:nvSpPr>
          <p:cNvPr id="9" name="Text 7"/>
          <p:cNvSpPr/>
          <p:nvPr/>
        </p:nvSpPr>
        <p:spPr>
          <a:xfrm>
            <a:off x="6675120" y="1179576"/>
            <a:ext cx="13716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Target</a:t>
            </a:r>
            <a:endParaRPr lang="en-US" sz="1100" dirty="0"/>
          </a:p>
        </p:txBody>
      </p:sp>
      <p:sp>
        <p:nvSpPr>
          <p:cNvPr id="10" name="Text 8"/>
          <p:cNvSpPr/>
          <p:nvPr/>
        </p:nvSpPr>
        <p:spPr>
          <a:xfrm>
            <a:off x="1188720" y="1307592"/>
            <a:ext cx="4572000" cy="256032"/>
          </a:xfrm>
          <a:prstGeom prst="rect">
            <a:avLst/>
          </a:prstGeom>
          <a:noFill/>
          <a:ln/>
        </p:spPr>
        <p:txBody>
          <a:bodyPr wrap="square" lIns="0" tIns="0" rIns="0" bIns="0" rtlCol="0" anchor="ctr"/>
          <a:lstStyle/>
          <a:p>
            <a:pPr indent="0" marL="0">
              <a:buNone/>
            </a:pPr>
            <a:r>
              <a:rPr lang="en-US" sz="1400" b="1" dirty="0">
                <a:solidFill>
                  <a:srgbClr val="1B2432"/>
                </a:solidFill>
                <a:latin typeface="Calibri" pitchFamily="34" charset="0"/>
                <a:ea typeface="Calibri" pitchFamily="34" charset="-122"/>
                <a:cs typeface="Calibri" pitchFamily="34" charset="-120"/>
              </a:rPr>
              <a:t>70% CPU Target</a:t>
            </a:r>
            <a:endParaRPr lang="en-US" sz="1400" dirty="0"/>
          </a:p>
        </p:txBody>
      </p:sp>
      <p:sp>
        <p:nvSpPr>
          <p:cNvPr id="11" name="Shape 9"/>
          <p:cNvSpPr/>
          <p:nvPr/>
        </p:nvSpPr>
        <p:spPr>
          <a:xfrm>
            <a:off x="1188720" y="1600200"/>
            <a:ext cx="6400800" cy="411480"/>
          </a:xfrm>
          <a:prstGeom prst="roundRect">
            <a:avLst>
              <a:gd name="adj" fmla="val 13333"/>
            </a:avLst>
          </a:prstGeom>
          <a:solidFill>
            <a:srgbClr val="F1F5F9"/>
          </a:solidFill>
          <a:ln/>
        </p:spPr>
      </p:sp>
      <p:sp>
        <p:nvSpPr>
          <p:cNvPr id="12" name="Shape 10"/>
          <p:cNvSpPr/>
          <p:nvPr/>
        </p:nvSpPr>
        <p:spPr>
          <a:xfrm>
            <a:off x="5221224" y="1600200"/>
            <a:ext cx="896112" cy="411480"/>
          </a:xfrm>
          <a:prstGeom prst="rect">
            <a:avLst/>
          </a:prstGeom>
          <a:solidFill>
            <a:srgbClr val="2DD4BF">
              <a:alpha val="30000"/>
            </a:srgbClr>
          </a:solidFill>
          <a:ln/>
        </p:spPr>
      </p:sp>
      <p:sp>
        <p:nvSpPr>
          <p:cNvPr id="13" name="Shape 11"/>
          <p:cNvSpPr/>
          <p:nvPr/>
        </p:nvSpPr>
        <p:spPr>
          <a:xfrm>
            <a:off x="5669280" y="1527048"/>
            <a:ext cx="0" cy="557784"/>
          </a:xfrm>
          <a:prstGeom prst="line">
            <a:avLst/>
          </a:prstGeom>
          <a:noFill/>
          <a:ln w="25400">
            <a:solidFill>
              <a:srgbClr val="5C7A99"/>
            </a:solidFill>
            <a:prstDash val="dash"/>
          </a:ln>
        </p:spPr>
      </p:sp>
      <p:sp>
        <p:nvSpPr>
          <p:cNvPr id="14" name="Shape 12"/>
          <p:cNvSpPr/>
          <p:nvPr/>
        </p:nvSpPr>
        <p:spPr>
          <a:xfrm>
            <a:off x="6025896" y="1527048"/>
            <a:ext cx="54864" cy="557784"/>
          </a:xfrm>
          <a:prstGeom prst="rect">
            <a:avLst/>
          </a:prstGeom>
          <a:solidFill>
            <a:srgbClr val="16233A"/>
          </a:solidFill>
          <a:ln/>
        </p:spPr>
      </p:sp>
      <p:sp>
        <p:nvSpPr>
          <p:cNvPr id="15" name="Text 13"/>
          <p:cNvSpPr/>
          <p:nvPr/>
        </p:nvSpPr>
        <p:spPr>
          <a:xfrm>
            <a:off x="1188720" y="2103120"/>
            <a:ext cx="6400800" cy="36576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76% actual sits inside the 63–77% tolerance band → no scale-up triggered</a:t>
            </a:r>
            <a:endParaRPr lang="en-US" sz="1250" dirty="0"/>
          </a:p>
        </p:txBody>
      </p:sp>
      <p:sp>
        <p:nvSpPr>
          <p:cNvPr id="16" name="Text 14"/>
          <p:cNvSpPr/>
          <p:nvPr/>
        </p:nvSpPr>
        <p:spPr>
          <a:xfrm>
            <a:off x="1188720" y="2587752"/>
            <a:ext cx="4572000" cy="256032"/>
          </a:xfrm>
          <a:prstGeom prst="rect">
            <a:avLst/>
          </a:prstGeom>
          <a:noFill/>
          <a:ln/>
        </p:spPr>
        <p:txBody>
          <a:bodyPr wrap="square" lIns="0" tIns="0" rIns="0" bIns="0" rtlCol="0" anchor="ctr"/>
          <a:lstStyle/>
          <a:p>
            <a:pPr indent="0" marL="0">
              <a:buNone/>
            </a:pPr>
            <a:r>
              <a:rPr lang="en-US" sz="1400" b="1" dirty="0">
                <a:solidFill>
                  <a:srgbClr val="1B2432"/>
                </a:solidFill>
                <a:latin typeface="Calibri" pitchFamily="34" charset="0"/>
                <a:ea typeface="Calibri" pitchFamily="34" charset="-122"/>
                <a:cs typeface="Calibri" pitchFamily="34" charset="-120"/>
              </a:rPr>
              <a:t>90% CPU Target</a:t>
            </a:r>
            <a:endParaRPr lang="en-US" sz="1400" dirty="0"/>
          </a:p>
        </p:txBody>
      </p:sp>
      <p:sp>
        <p:nvSpPr>
          <p:cNvPr id="17" name="Shape 15"/>
          <p:cNvSpPr/>
          <p:nvPr/>
        </p:nvSpPr>
        <p:spPr>
          <a:xfrm>
            <a:off x="1188720" y="2880360"/>
            <a:ext cx="6400800" cy="411480"/>
          </a:xfrm>
          <a:prstGeom prst="roundRect">
            <a:avLst>
              <a:gd name="adj" fmla="val 13333"/>
            </a:avLst>
          </a:prstGeom>
          <a:solidFill>
            <a:srgbClr val="F1F5F9"/>
          </a:solidFill>
          <a:ln/>
        </p:spPr>
      </p:sp>
      <p:sp>
        <p:nvSpPr>
          <p:cNvPr id="18" name="Shape 16"/>
          <p:cNvSpPr/>
          <p:nvPr/>
        </p:nvSpPr>
        <p:spPr>
          <a:xfrm>
            <a:off x="6373368" y="2880360"/>
            <a:ext cx="1152144" cy="411480"/>
          </a:xfrm>
          <a:prstGeom prst="rect">
            <a:avLst/>
          </a:prstGeom>
          <a:solidFill>
            <a:srgbClr val="2DD4BF">
              <a:alpha val="30000"/>
            </a:srgbClr>
          </a:solidFill>
          <a:ln/>
        </p:spPr>
      </p:sp>
      <p:sp>
        <p:nvSpPr>
          <p:cNvPr id="19" name="Shape 17"/>
          <p:cNvSpPr/>
          <p:nvPr/>
        </p:nvSpPr>
        <p:spPr>
          <a:xfrm>
            <a:off x="6949440" y="2807208"/>
            <a:ext cx="0" cy="557784"/>
          </a:xfrm>
          <a:prstGeom prst="line">
            <a:avLst/>
          </a:prstGeom>
          <a:noFill/>
          <a:ln w="25400">
            <a:solidFill>
              <a:srgbClr val="5C7A99"/>
            </a:solidFill>
            <a:prstDash val="dash"/>
          </a:ln>
        </p:spPr>
      </p:sp>
      <p:sp>
        <p:nvSpPr>
          <p:cNvPr id="20" name="Shape 18"/>
          <p:cNvSpPr/>
          <p:nvPr/>
        </p:nvSpPr>
        <p:spPr>
          <a:xfrm>
            <a:off x="6025896" y="2807208"/>
            <a:ext cx="54864" cy="557784"/>
          </a:xfrm>
          <a:prstGeom prst="rect">
            <a:avLst/>
          </a:prstGeom>
          <a:solidFill>
            <a:srgbClr val="16233A"/>
          </a:solidFill>
          <a:ln/>
        </p:spPr>
      </p:sp>
      <p:sp>
        <p:nvSpPr>
          <p:cNvPr id="21" name="Text 19"/>
          <p:cNvSpPr/>
          <p:nvPr/>
        </p:nvSpPr>
        <p:spPr>
          <a:xfrm>
            <a:off x="1188720" y="3383280"/>
            <a:ext cx="6400800" cy="36576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76% actual sits below the 81–99% band, and replicas are already at the 2-pod floor</a:t>
            </a:r>
            <a:endParaRPr lang="en-US" sz="1250" dirty="0"/>
          </a:p>
        </p:txBody>
      </p:sp>
      <p:sp>
        <p:nvSpPr>
          <p:cNvPr id="22" name="Shape 20"/>
          <p:cNvSpPr/>
          <p:nvPr/>
        </p:nvSpPr>
        <p:spPr>
          <a:xfrm>
            <a:off x="640080" y="4114800"/>
            <a:ext cx="7863840" cy="640080"/>
          </a:xfrm>
          <a:prstGeom prst="roundRect">
            <a:avLst>
              <a:gd name="adj" fmla="val 11429"/>
            </a:avLst>
          </a:prstGeom>
          <a:solidFill>
            <a:srgbClr val="16233A"/>
          </a:solidFill>
          <a:ln/>
        </p:spPr>
      </p:sp>
      <p:sp>
        <p:nvSpPr>
          <p:cNvPr id="23" name="Text 21"/>
          <p:cNvSpPr/>
          <p:nvPr/>
        </p:nvSpPr>
        <p:spPr>
          <a:xfrm>
            <a:off x="822960" y="4114800"/>
            <a:ext cx="7498080" cy="6400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The custom autoscaler avoids this blind spot entirely — it scales on arrival rate, not CPU%.</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6400800" cy="640080"/>
          </a:xfrm>
          <a:prstGeom prst="rect">
            <a:avLst/>
          </a:prstGeom>
          <a:noFill/>
          <a:ln/>
        </p:spPr>
        <p:txBody>
          <a:bodyPr wrap="square" lIns="0" tIns="0" rIns="0" bIns="0" rtlCol="0" anchor="ctr"/>
          <a:lstStyle/>
          <a:p>
            <a:pPr indent="0" marL="0">
              <a:buNone/>
            </a:pPr>
            <a:r>
              <a:rPr lang="en-US" sz="3800" b="1" dirty="0">
                <a:solidFill>
                  <a:srgbClr val="16233A"/>
                </a:solidFill>
                <a:latin typeface="Cambria" pitchFamily="34" charset="0"/>
                <a:ea typeface="Cambria" pitchFamily="34" charset="-122"/>
                <a:cs typeface="Cambria" pitchFamily="34" charset="-120"/>
              </a:rPr>
              <a:t>Limitations</a:t>
            </a:r>
            <a:endParaRPr lang="en-US" sz="3800" dirty="0"/>
          </a:p>
        </p:txBody>
      </p:sp>
      <p:sp>
        <p:nvSpPr>
          <p:cNvPr id="3" name="Shape 1"/>
          <p:cNvSpPr/>
          <p:nvPr/>
        </p:nvSpPr>
        <p:spPr>
          <a:xfrm>
            <a:off x="640080" y="1691640"/>
            <a:ext cx="2514600" cy="2834640"/>
          </a:xfrm>
          <a:prstGeom prst="roundRect">
            <a:avLst>
              <a:gd name="adj" fmla="val 2909"/>
            </a:avLst>
          </a:prstGeom>
          <a:solidFill>
            <a:srgbClr val="F1F5F9"/>
          </a:solidFill>
          <a:ln/>
          <a:effectLst>
            <a:outerShdw sx="100000" sy="100000" kx="0" ky="0" algn="bl" rotWithShape="0" blurRad="101600" dist="25400" dir="5400000">
              <a:srgbClr val="000000">
                <a:alpha val="8000"/>
              </a:srgbClr>
            </a:outerShdw>
          </a:effectLst>
        </p:spPr>
      </p:sp>
      <p:sp>
        <p:nvSpPr>
          <p:cNvPr id="4" name="Shape 2"/>
          <p:cNvSpPr/>
          <p:nvPr/>
        </p:nvSpPr>
        <p:spPr>
          <a:xfrm>
            <a:off x="1577340" y="1965960"/>
            <a:ext cx="640080" cy="640080"/>
          </a:xfrm>
          <a:prstGeom prst="ellipse">
            <a:avLst/>
          </a:prstGeom>
          <a:solidFill>
            <a:srgbClr val="16233A"/>
          </a:solidFill>
          <a:ln/>
        </p:spPr>
      </p:sp>
      <p:pic>
        <p:nvPicPr>
          <p:cNvPr id="5" name="Image 0" descr="preencoded.png">    </p:cNvPr>
          <p:cNvPicPr>
            <a:picLocks noChangeAspect="1"/>
          </p:cNvPicPr>
          <p:nvPr/>
        </p:nvPicPr>
        <p:blipFill>
          <a:blip r:embed="rId1"/>
          <a:stretch>
            <a:fillRect/>
          </a:stretch>
        </p:blipFill>
        <p:spPr>
          <a:xfrm>
            <a:off x="1723644" y="2112264"/>
            <a:ext cx="347472" cy="347472"/>
          </a:xfrm>
          <a:prstGeom prst="rect">
            <a:avLst/>
          </a:prstGeom>
        </p:spPr>
      </p:pic>
      <p:sp>
        <p:nvSpPr>
          <p:cNvPr id="6" name="Text 3"/>
          <p:cNvSpPr/>
          <p:nvPr/>
        </p:nvSpPr>
        <p:spPr>
          <a:xfrm>
            <a:off x="822960" y="2743200"/>
            <a:ext cx="2148840" cy="502920"/>
          </a:xfrm>
          <a:prstGeom prst="rect">
            <a:avLst/>
          </a:prstGeom>
          <a:noFill/>
          <a:ln/>
        </p:spPr>
        <p:txBody>
          <a:bodyPr wrap="square" lIns="0" tIns="0" rIns="0" bIns="0" rtlCol="0" anchor="t"/>
          <a:lstStyle/>
          <a:p>
            <a:pPr algn="ctr" indent="0" marL="0">
              <a:buNone/>
            </a:pPr>
            <a:r>
              <a:rPr lang="en-US" sz="1600" b="1" dirty="0">
                <a:solidFill>
                  <a:srgbClr val="1B2432"/>
                </a:solidFill>
                <a:latin typeface="Calibri" pitchFamily="34" charset="0"/>
                <a:ea typeface="Calibri" pitchFamily="34" charset="-122"/>
                <a:cs typeface="Calibri" pitchFamily="34" charset="-120"/>
              </a:rPr>
              <a:t>Cold-Start Latency</a:t>
            </a:r>
            <a:endParaRPr lang="en-US" sz="1600" dirty="0"/>
          </a:p>
        </p:txBody>
      </p:sp>
      <p:sp>
        <p:nvSpPr>
          <p:cNvPr id="7" name="Text 4"/>
          <p:cNvSpPr/>
          <p:nvPr/>
        </p:nvSpPr>
        <p:spPr>
          <a:xfrm>
            <a:off x="868680" y="3246120"/>
            <a:ext cx="2057400" cy="10972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First inference after pod startup takes ~800ms (model JIT warmup); later requests settle to 75-100ms</a:t>
            </a:r>
            <a:endParaRPr lang="en-US" sz="1200" dirty="0"/>
          </a:p>
        </p:txBody>
      </p:sp>
      <p:sp>
        <p:nvSpPr>
          <p:cNvPr id="8" name="Shape 5"/>
          <p:cNvSpPr/>
          <p:nvPr/>
        </p:nvSpPr>
        <p:spPr>
          <a:xfrm>
            <a:off x="3429000" y="1691640"/>
            <a:ext cx="2514600" cy="2834640"/>
          </a:xfrm>
          <a:prstGeom prst="roundRect">
            <a:avLst>
              <a:gd name="adj" fmla="val 2909"/>
            </a:avLst>
          </a:prstGeom>
          <a:solidFill>
            <a:srgbClr val="F1F5F9"/>
          </a:solidFill>
          <a:ln/>
          <a:effectLst>
            <a:outerShdw sx="100000" sy="100000" kx="0" ky="0" algn="bl" rotWithShape="0" blurRad="101600" dist="25400" dir="5400000">
              <a:srgbClr val="000000">
                <a:alpha val="8000"/>
              </a:srgbClr>
            </a:outerShdw>
          </a:effectLst>
        </p:spPr>
      </p:sp>
      <p:sp>
        <p:nvSpPr>
          <p:cNvPr id="9" name="Shape 6"/>
          <p:cNvSpPr/>
          <p:nvPr/>
        </p:nvSpPr>
        <p:spPr>
          <a:xfrm>
            <a:off x="4366260" y="1965960"/>
            <a:ext cx="640080" cy="640080"/>
          </a:xfrm>
          <a:prstGeom prst="ellipse">
            <a:avLst/>
          </a:prstGeom>
          <a:solidFill>
            <a:srgbClr val="16233A"/>
          </a:solidFill>
          <a:ln/>
        </p:spPr>
      </p:sp>
      <p:pic>
        <p:nvPicPr>
          <p:cNvPr id="10" name="Image 1" descr="preencoded.png">    </p:cNvPr>
          <p:cNvPicPr>
            <a:picLocks noChangeAspect="1"/>
          </p:cNvPicPr>
          <p:nvPr/>
        </p:nvPicPr>
        <p:blipFill>
          <a:blip r:embed="rId2"/>
          <a:stretch>
            <a:fillRect/>
          </a:stretch>
        </p:blipFill>
        <p:spPr>
          <a:xfrm>
            <a:off x="4512564" y="2112264"/>
            <a:ext cx="347472" cy="347472"/>
          </a:xfrm>
          <a:prstGeom prst="rect">
            <a:avLst/>
          </a:prstGeom>
        </p:spPr>
      </p:pic>
      <p:sp>
        <p:nvSpPr>
          <p:cNvPr id="11" name="Text 7"/>
          <p:cNvSpPr/>
          <p:nvPr/>
        </p:nvSpPr>
        <p:spPr>
          <a:xfrm>
            <a:off x="3611880" y="2743200"/>
            <a:ext cx="2148840" cy="502920"/>
          </a:xfrm>
          <a:prstGeom prst="rect">
            <a:avLst/>
          </a:prstGeom>
          <a:noFill/>
          <a:ln/>
        </p:spPr>
        <p:txBody>
          <a:bodyPr wrap="square" lIns="0" tIns="0" rIns="0" bIns="0" rtlCol="0" anchor="t"/>
          <a:lstStyle/>
          <a:p>
            <a:pPr algn="ctr" indent="0" marL="0">
              <a:buNone/>
            </a:pPr>
            <a:r>
              <a:rPr lang="en-US" sz="1600" b="1" dirty="0">
                <a:solidFill>
                  <a:srgbClr val="1B2432"/>
                </a:solidFill>
                <a:latin typeface="Calibri" pitchFamily="34" charset="0"/>
                <a:ea typeface="Calibri" pitchFamily="34" charset="-122"/>
                <a:cs typeface="Calibri" pitchFamily="34" charset="-120"/>
              </a:rPr>
              <a:t>Laptop-Scale Cluster</a:t>
            </a:r>
            <a:endParaRPr lang="en-US" sz="1600" dirty="0"/>
          </a:p>
        </p:txBody>
      </p:sp>
      <p:sp>
        <p:nvSpPr>
          <p:cNvPr id="12" name="Text 8"/>
          <p:cNvSpPr/>
          <p:nvPr/>
        </p:nvSpPr>
        <p:spPr>
          <a:xfrm>
            <a:off x="3657600" y="3246120"/>
            <a:ext cx="2057400" cy="10972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Single-node Minikube — no real multi-node network variance</a:t>
            </a:r>
            <a:endParaRPr lang="en-US" sz="1200" dirty="0"/>
          </a:p>
        </p:txBody>
      </p:sp>
      <p:sp>
        <p:nvSpPr>
          <p:cNvPr id="13" name="Shape 9"/>
          <p:cNvSpPr/>
          <p:nvPr/>
        </p:nvSpPr>
        <p:spPr>
          <a:xfrm>
            <a:off x="6217920" y="1691640"/>
            <a:ext cx="2514600" cy="2834640"/>
          </a:xfrm>
          <a:prstGeom prst="roundRect">
            <a:avLst>
              <a:gd name="adj" fmla="val 2909"/>
            </a:avLst>
          </a:prstGeom>
          <a:solidFill>
            <a:srgbClr val="F1F5F9"/>
          </a:solidFill>
          <a:ln/>
          <a:effectLst>
            <a:outerShdw sx="100000" sy="100000" kx="0" ky="0" algn="bl" rotWithShape="0" blurRad="101600" dist="25400" dir="5400000">
              <a:srgbClr val="000000">
                <a:alpha val="8000"/>
              </a:srgbClr>
            </a:outerShdw>
          </a:effectLst>
        </p:spPr>
      </p:sp>
      <p:sp>
        <p:nvSpPr>
          <p:cNvPr id="14" name="Shape 10"/>
          <p:cNvSpPr/>
          <p:nvPr/>
        </p:nvSpPr>
        <p:spPr>
          <a:xfrm>
            <a:off x="7155180" y="1965960"/>
            <a:ext cx="640080" cy="640080"/>
          </a:xfrm>
          <a:prstGeom prst="ellipse">
            <a:avLst/>
          </a:prstGeom>
          <a:solidFill>
            <a:srgbClr val="16233A"/>
          </a:solidFill>
          <a:ln/>
        </p:spPr>
      </p:sp>
      <p:pic>
        <p:nvPicPr>
          <p:cNvPr id="15" name="Image 2" descr="preencoded.png">    </p:cNvPr>
          <p:cNvPicPr>
            <a:picLocks noChangeAspect="1"/>
          </p:cNvPicPr>
          <p:nvPr/>
        </p:nvPicPr>
        <p:blipFill>
          <a:blip r:embed="rId3"/>
          <a:stretch>
            <a:fillRect/>
          </a:stretch>
        </p:blipFill>
        <p:spPr>
          <a:xfrm>
            <a:off x="7301484" y="2112264"/>
            <a:ext cx="347472" cy="347472"/>
          </a:xfrm>
          <a:prstGeom prst="rect">
            <a:avLst/>
          </a:prstGeom>
        </p:spPr>
      </p:pic>
      <p:sp>
        <p:nvSpPr>
          <p:cNvPr id="16" name="Text 11"/>
          <p:cNvSpPr/>
          <p:nvPr/>
        </p:nvSpPr>
        <p:spPr>
          <a:xfrm>
            <a:off x="6400800" y="2743200"/>
            <a:ext cx="2148840" cy="502920"/>
          </a:xfrm>
          <a:prstGeom prst="rect">
            <a:avLst/>
          </a:prstGeom>
          <a:noFill/>
          <a:ln/>
        </p:spPr>
        <p:txBody>
          <a:bodyPr wrap="square" lIns="0" tIns="0" rIns="0" bIns="0" rtlCol="0" anchor="t"/>
          <a:lstStyle/>
          <a:p>
            <a:pPr algn="ctr" indent="0" marL="0">
              <a:buNone/>
            </a:pPr>
            <a:r>
              <a:rPr lang="en-US" sz="1600" b="1" dirty="0">
                <a:solidFill>
                  <a:srgbClr val="1B2432"/>
                </a:solidFill>
                <a:latin typeface="Calibri" pitchFamily="34" charset="0"/>
                <a:ea typeface="Calibri" pitchFamily="34" charset="-122"/>
                <a:cs typeface="Calibri" pitchFamily="34" charset="-120"/>
              </a:rPr>
              <a:t>One Workload Trace</a:t>
            </a:r>
            <a:endParaRPr lang="en-US" sz="1600" dirty="0"/>
          </a:p>
        </p:txBody>
      </p:sp>
      <p:sp>
        <p:nvSpPr>
          <p:cNvPr id="17" name="Text 12"/>
          <p:cNvSpPr/>
          <p:nvPr/>
        </p:nvSpPr>
        <p:spPr>
          <a:xfrm>
            <a:off x="6446520" y="3246120"/>
            <a:ext cx="2057400" cy="10972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Only tested a single traffic pattern; generalization to other shapes is untested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6400800" cy="640080"/>
          </a:xfrm>
          <a:prstGeom prst="rect">
            <a:avLst/>
          </a:prstGeom>
          <a:noFill/>
          <a:ln/>
        </p:spPr>
        <p:txBody>
          <a:bodyPr wrap="square" lIns="0" tIns="0" rIns="0" bIns="0" rtlCol="0" anchor="ctr"/>
          <a:lstStyle/>
          <a:p>
            <a:pPr indent="0" marL="0">
              <a:buNone/>
            </a:pPr>
            <a:r>
              <a:rPr lang="en-US" sz="3800" b="1" dirty="0">
                <a:solidFill>
                  <a:srgbClr val="16233A"/>
                </a:solidFill>
                <a:latin typeface="Cambria" pitchFamily="34" charset="0"/>
                <a:ea typeface="Cambria" pitchFamily="34" charset="-122"/>
                <a:cs typeface="Cambria" pitchFamily="34" charset="-120"/>
              </a:rPr>
              <a:t>Key Takeaways</a:t>
            </a:r>
            <a:endParaRPr lang="en-US" sz="3800" dirty="0"/>
          </a:p>
        </p:txBody>
      </p:sp>
      <p:sp>
        <p:nvSpPr>
          <p:cNvPr id="3" name="Shape 1"/>
          <p:cNvSpPr/>
          <p:nvPr/>
        </p:nvSpPr>
        <p:spPr>
          <a:xfrm>
            <a:off x="640080" y="1691640"/>
            <a:ext cx="566928" cy="566928"/>
          </a:xfrm>
          <a:prstGeom prst="ellipse">
            <a:avLst/>
          </a:prstGeom>
          <a:solidFill>
            <a:srgbClr val="16233A"/>
          </a:solidFill>
          <a:ln/>
        </p:spPr>
      </p:sp>
      <p:pic>
        <p:nvPicPr>
          <p:cNvPr id="4" name="Image 0" descr="preencoded.png">    </p:cNvPr>
          <p:cNvPicPr>
            <a:picLocks noChangeAspect="1"/>
          </p:cNvPicPr>
          <p:nvPr/>
        </p:nvPicPr>
        <p:blipFill>
          <a:blip r:embed="rId1"/>
          <a:stretch>
            <a:fillRect/>
          </a:stretch>
        </p:blipFill>
        <p:spPr>
          <a:xfrm>
            <a:off x="781812" y="1833372"/>
            <a:ext cx="283464" cy="283464"/>
          </a:xfrm>
          <a:prstGeom prst="rect">
            <a:avLst/>
          </a:prstGeom>
        </p:spPr>
      </p:pic>
      <p:sp>
        <p:nvSpPr>
          <p:cNvPr id="5" name="Text 2"/>
          <p:cNvSpPr/>
          <p:nvPr/>
        </p:nvSpPr>
        <p:spPr>
          <a:xfrm>
            <a:off x="1417320" y="1664208"/>
            <a:ext cx="7040880" cy="365760"/>
          </a:xfrm>
          <a:prstGeom prst="rect">
            <a:avLst/>
          </a:prstGeom>
          <a:noFill/>
          <a:ln/>
        </p:spPr>
        <p:txBody>
          <a:bodyPr wrap="square" lIns="0" tIns="0" rIns="0" bIns="0" rtlCol="0" anchor="ctr"/>
          <a:lstStyle/>
          <a:p>
            <a:pPr indent="0" marL="0">
              <a:buNone/>
            </a:pPr>
            <a:r>
              <a:rPr lang="en-US" sz="1800" b="1" dirty="0">
                <a:solidFill>
                  <a:srgbClr val="1B2432"/>
                </a:solidFill>
                <a:latin typeface="Calibri" pitchFamily="34" charset="0"/>
                <a:ea typeface="Calibri" pitchFamily="34" charset="-122"/>
                <a:cs typeface="Calibri" pitchFamily="34" charset="-120"/>
              </a:rPr>
              <a:t>Held the SLO Under Load</a:t>
            </a:r>
            <a:endParaRPr lang="en-US" sz="1800" dirty="0"/>
          </a:p>
        </p:txBody>
      </p:sp>
      <p:sp>
        <p:nvSpPr>
          <p:cNvPr id="6" name="Text 3"/>
          <p:cNvSpPr/>
          <p:nvPr/>
        </p:nvSpPr>
        <p:spPr>
          <a:xfrm>
            <a:off x="1417320" y="2029968"/>
            <a:ext cx="713232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Custom autoscaler pulled p99 latency back under 0.5s through the spike — stock HPA never did</a:t>
            </a:r>
            <a:endParaRPr lang="en-US" sz="1300" dirty="0"/>
          </a:p>
        </p:txBody>
      </p:sp>
      <p:sp>
        <p:nvSpPr>
          <p:cNvPr id="7" name="Shape 4"/>
          <p:cNvSpPr/>
          <p:nvPr/>
        </p:nvSpPr>
        <p:spPr>
          <a:xfrm>
            <a:off x="640080" y="2606040"/>
            <a:ext cx="566928" cy="566928"/>
          </a:xfrm>
          <a:prstGeom prst="ellipse">
            <a:avLst/>
          </a:prstGeom>
          <a:solidFill>
            <a:srgbClr val="16233A"/>
          </a:solidFill>
          <a:ln/>
        </p:spPr>
      </p:sp>
      <p:pic>
        <p:nvPicPr>
          <p:cNvPr id="8" name="Image 1" descr="preencoded.png">    </p:cNvPr>
          <p:cNvPicPr>
            <a:picLocks noChangeAspect="1"/>
          </p:cNvPicPr>
          <p:nvPr/>
        </p:nvPicPr>
        <p:blipFill>
          <a:blip r:embed="rId2"/>
          <a:stretch>
            <a:fillRect/>
          </a:stretch>
        </p:blipFill>
        <p:spPr>
          <a:xfrm>
            <a:off x="781812" y="2747772"/>
            <a:ext cx="283464" cy="283464"/>
          </a:xfrm>
          <a:prstGeom prst="rect">
            <a:avLst/>
          </a:prstGeom>
        </p:spPr>
      </p:pic>
      <p:sp>
        <p:nvSpPr>
          <p:cNvPr id="9" name="Text 5"/>
          <p:cNvSpPr/>
          <p:nvPr/>
        </p:nvSpPr>
        <p:spPr>
          <a:xfrm>
            <a:off x="1417320" y="2578608"/>
            <a:ext cx="7040880" cy="365760"/>
          </a:xfrm>
          <a:prstGeom prst="rect">
            <a:avLst/>
          </a:prstGeom>
          <a:noFill/>
          <a:ln/>
        </p:spPr>
        <p:txBody>
          <a:bodyPr wrap="square" lIns="0" tIns="0" rIns="0" bIns="0" rtlCol="0" anchor="ctr"/>
          <a:lstStyle/>
          <a:p>
            <a:pPr indent="0" marL="0">
              <a:buNone/>
            </a:pPr>
            <a:r>
              <a:rPr lang="en-US" sz="1800" b="1" dirty="0">
                <a:solidFill>
                  <a:srgbClr val="1B2432"/>
                </a:solidFill>
                <a:latin typeface="Calibri" pitchFamily="34" charset="0"/>
                <a:ea typeface="Calibri" pitchFamily="34" charset="-122"/>
                <a:cs typeface="Calibri" pitchFamily="34" charset="-120"/>
              </a:rPr>
              <a:t>Closed the CPU Blind Spot</a:t>
            </a:r>
            <a:endParaRPr lang="en-US" sz="1800" dirty="0"/>
          </a:p>
        </p:txBody>
      </p:sp>
      <p:sp>
        <p:nvSpPr>
          <p:cNvPr id="10" name="Text 6"/>
          <p:cNvSpPr/>
          <p:nvPr/>
        </p:nvSpPr>
        <p:spPr>
          <a:xfrm>
            <a:off x="1417320" y="2944368"/>
            <a:ext cx="713232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Arrival-rate-based scaling avoids the tolerance-window trap that hides demand behind dispatcher backpressure</a:t>
            </a:r>
            <a:endParaRPr lang="en-US" sz="1300" dirty="0"/>
          </a:p>
        </p:txBody>
      </p:sp>
      <p:sp>
        <p:nvSpPr>
          <p:cNvPr id="11" name="Shape 7"/>
          <p:cNvSpPr/>
          <p:nvPr/>
        </p:nvSpPr>
        <p:spPr>
          <a:xfrm>
            <a:off x="640080" y="3520440"/>
            <a:ext cx="566928" cy="566928"/>
          </a:xfrm>
          <a:prstGeom prst="ellipse">
            <a:avLst/>
          </a:prstGeom>
          <a:solidFill>
            <a:srgbClr val="16233A"/>
          </a:solidFill>
          <a:ln/>
        </p:spPr>
      </p:sp>
      <p:pic>
        <p:nvPicPr>
          <p:cNvPr id="12" name="Image 2" descr="preencoded.png">    </p:cNvPr>
          <p:cNvPicPr>
            <a:picLocks noChangeAspect="1"/>
          </p:cNvPicPr>
          <p:nvPr/>
        </p:nvPicPr>
        <p:blipFill>
          <a:blip r:embed="rId3"/>
          <a:stretch>
            <a:fillRect/>
          </a:stretch>
        </p:blipFill>
        <p:spPr>
          <a:xfrm>
            <a:off x="781812" y="3662172"/>
            <a:ext cx="283464" cy="283464"/>
          </a:xfrm>
          <a:prstGeom prst="rect">
            <a:avLst/>
          </a:prstGeom>
        </p:spPr>
      </p:pic>
      <p:sp>
        <p:nvSpPr>
          <p:cNvPr id="13" name="Text 8"/>
          <p:cNvSpPr/>
          <p:nvPr/>
        </p:nvSpPr>
        <p:spPr>
          <a:xfrm>
            <a:off x="1417320" y="3493008"/>
            <a:ext cx="7040880" cy="365760"/>
          </a:xfrm>
          <a:prstGeom prst="rect">
            <a:avLst/>
          </a:prstGeom>
          <a:noFill/>
          <a:ln/>
        </p:spPr>
        <p:txBody>
          <a:bodyPr wrap="square" lIns="0" tIns="0" rIns="0" bIns="0" rtlCol="0" anchor="ctr"/>
          <a:lstStyle/>
          <a:p>
            <a:pPr indent="0" marL="0">
              <a:buNone/>
            </a:pPr>
            <a:r>
              <a:rPr lang="en-US" sz="1800" b="1" dirty="0">
                <a:solidFill>
                  <a:srgbClr val="1B2432"/>
                </a:solidFill>
                <a:latin typeface="Calibri" pitchFamily="34" charset="0"/>
                <a:ea typeface="Calibri" pitchFamily="34" charset="-122"/>
                <a:cs typeface="Calibri" pitchFamily="34" charset="-120"/>
              </a:rPr>
              <a:t>No GPU, No Managed Cloud</a:t>
            </a:r>
            <a:endParaRPr lang="en-US" sz="1800" dirty="0"/>
          </a:p>
        </p:txBody>
      </p:sp>
      <p:sp>
        <p:nvSpPr>
          <p:cNvPr id="14" name="Text 9"/>
          <p:cNvSpPr/>
          <p:nvPr/>
        </p:nvSpPr>
        <p:spPr>
          <a:xfrm>
            <a:off x="1417320" y="3858768"/>
            <a:ext cx="713232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Achieved on lightweight, laptop-scale Kubernetes tooling with Minikube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33A"/>
        </a:solidFill>
      </p:bgPr>
    </p:bg>
    <p:spTree>
      <p:nvGrpSpPr>
        <p:cNvPr id="1" name=""/>
        <p:cNvGrpSpPr/>
        <p:nvPr/>
      </p:nvGrpSpPr>
      <p:grpSpPr>
        <a:xfrm>
          <a:off x="0" y="0"/>
          <a:ext cx="0" cy="0"/>
          <a:chOff x="0" y="0"/>
          <a:chExt cx="0" cy="0"/>
        </a:xfrm>
      </p:grpSpPr>
      <p:sp>
        <p:nvSpPr>
          <p:cNvPr id="2" name="Shape 0"/>
          <p:cNvSpPr/>
          <p:nvPr/>
        </p:nvSpPr>
        <p:spPr>
          <a:xfrm>
            <a:off x="-502920" y="-411480"/>
            <a:ext cx="1234440" cy="1234440"/>
          </a:xfrm>
          <a:prstGeom prst="ellipse">
            <a:avLst/>
          </a:prstGeom>
          <a:solidFill>
            <a:srgbClr val="2DD4BF">
              <a:alpha val="92000"/>
            </a:srgbClr>
          </a:solidFill>
          <a:ln/>
        </p:spPr>
      </p:sp>
      <p:sp>
        <p:nvSpPr>
          <p:cNvPr id="3" name="Shape 1"/>
          <p:cNvSpPr/>
          <p:nvPr/>
        </p:nvSpPr>
        <p:spPr>
          <a:xfrm>
            <a:off x="-1234440" y="685800"/>
            <a:ext cx="777240" cy="777240"/>
          </a:xfrm>
          <a:prstGeom prst="ellipse">
            <a:avLst/>
          </a:prstGeom>
          <a:solidFill>
            <a:srgbClr val="2DD4BF">
              <a:alpha val="78000"/>
            </a:srgbClr>
          </a:solidFill>
          <a:ln/>
        </p:spPr>
      </p:sp>
      <p:sp>
        <p:nvSpPr>
          <p:cNvPr id="4" name="Shape 2"/>
          <p:cNvSpPr/>
          <p:nvPr/>
        </p:nvSpPr>
        <p:spPr>
          <a:xfrm>
            <a:off x="45720" y="1051560"/>
            <a:ext cx="502920" cy="502920"/>
          </a:xfrm>
          <a:prstGeom prst="ellipse">
            <a:avLst/>
          </a:prstGeom>
          <a:solidFill>
            <a:srgbClr val="2DD4BF">
              <a:alpha val="65000"/>
            </a:srgbClr>
          </a:solidFill>
          <a:ln/>
        </p:spPr>
      </p:sp>
      <p:sp>
        <p:nvSpPr>
          <p:cNvPr id="5" name="Shape 3"/>
          <p:cNvSpPr/>
          <p:nvPr/>
        </p:nvSpPr>
        <p:spPr>
          <a:xfrm>
            <a:off x="-960120" y="3794760"/>
            <a:ext cx="960120" cy="960120"/>
          </a:xfrm>
          <a:prstGeom prst="ellipse">
            <a:avLst/>
          </a:prstGeom>
          <a:solidFill>
            <a:srgbClr val="2DD4BF">
              <a:alpha val="55000"/>
            </a:srgbClr>
          </a:solidFill>
          <a:ln/>
        </p:spPr>
      </p:sp>
      <p:sp>
        <p:nvSpPr>
          <p:cNvPr id="6" name="Shape 4"/>
          <p:cNvSpPr/>
          <p:nvPr/>
        </p:nvSpPr>
        <p:spPr>
          <a:xfrm>
            <a:off x="-320040" y="4526280"/>
            <a:ext cx="548640" cy="548640"/>
          </a:xfrm>
          <a:prstGeom prst="ellipse">
            <a:avLst/>
          </a:prstGeom>
          <a:solidFill>
            <a:srgbClr val="2DD4BF">
              <a:alpha val="70000"/>
            </a:srgbClr>
          </a:solidFill>
          <a:ln/>
        </p:spPr>
      </p:sp>
      <p:sp>
        <p:nvSpPr>
          <p:cNvPr id="7" name="Shape 5"/>
          <p:cNvSpPr/>
          <p:nvPr/>
        </p:nvSpPr>
        <p:spPr>
          <a:xfrm>
            <a:off x="8915400" y="4160520"/>
            <a:ext cx="365760" cy="365760"/>
          </a:xfrm>
          <a:prstGeom prst="ellipse">
            <a:avLst/>
          </a:prstGeom>
          <a:solidFill>
            <a:srgbClr val="2DD4BF">
              <a:alpha val="60000"/>
            </a:srgbClr>
          </a:solidFill>
          <a:ln/>
        </p:spPr>
      </p:sp>
      <p:sp>
        <p:nvSpPr>
          <p:cNvPr id="8" name="Shape 6"/>
          <p:cNvSpPr/>
          <p:nvPr/>
        </p:nvSpPr>
        <p:spPr>
          <a:xfrm>
            <a:off x="8732520" y="320040"/>
            <a:ext cx="457200" cy="457200"/>
          </a:xfrm>
          <a:prstGeom prst="ellipse">
            <a:avLst/>
          </a:prstGeom>
          <a:solidFill>
            <a:srgbClr val="2DD4BF">
              <a:alpha val="55000"/>
            </a:srgbClr>
          </a:solidFill>
          <a:ln/>
        </p:spPr>
      </p:sp>
      <p:sp>
        <p:nvSpPr>
          <p:cNvPr id="9" name="Text 7"/>
          <p:cNvSpPr/>
          <p:nvPr/>
        </p:nvSpPr>
        <p:spPr>
          <a:xfrm>
            <a:off x="640080" y="1874520"/>
            <a:ext cx="7863840"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10" name="Text 8"/>
          <p:cNvSpPr/>
          <p:nvPr/>
        </p:nvSpPr>
        <p:spPr>
          <a:xfrm>
            <a:off x="640080" y="2880360"/>
            <a:ext cx="7863840" cy="457200"/>
          </a:xfrm>
          <a:prstGeom prst="rect">
            <a:avLst/>
          </a:prstGeom>
          <a:noFill/>
          <a:ln/>
        </p:spPr>
        <p:txBody>
          <a:bodyPr wrap="square" lIns="0" tIns="0" rIns="0" bIns="0" rtlCol="0" anchor="ctr"/>
          <a:lstStyle/>
          <a:p>
            <a:pPr algn="ctr" indent="0" marL="0">
              <a:buNone/>
            </a:pPr>
            <a:r>
              <a:rPr lang="en-US" sz="1800" dirty="0">
                <a:solidFill>
                  <a:srgbClr val="2DD4BF"/>
                </a:solidFill>
                <a:latin typeface="Calibri" pitchFamily="34" charset="0"/>
                <a:ea typeface="Calibri" pitchFamily="34" charset="-122"/>
                <a:cs typeface="Calibri" pitchFamily="34" charset="-120"/>
              </a:rPr>
              <a:t>Thank you</a:t>
            </a:r>
            <a:endParaRPr lang="en-US" sz="1800" dirty="0"/>
          </a:p>
        </p:txBody>
      </p:sp>
      <p:sp>
        <p:nvSpPr>
          <p:cNvPr id="11" name="Text 9"/>
          <p:cNvSpPr/>
          <p:nvPr/>
        </p:nvSpPr>
        <p:spPr>
          <a:xfrm>
            <a:off x="640080" y="4526280"/>
            <a:ext cx="7863840" cy="320040"/>
          </a:xfrm>
          <a:prstGeom prst="rect">
            <a:avLst/>
          </a:prstGeom>
          <a:noFill/>
          <a:ln/>
        </p:spPr>
        <p:txBody>
          <a:bodyPr wrap="square" lIns="0" tIns="0" rIns="0" bIns="0" rtlCol="0" anchor="ctr"/>
          <a:lstStyle/>
          <a:p>
            <a:pPr algn="ctr" indent="0" marL="0">
              <a:buNone/>
            </a:pPr>
            <a:r>
              <a:rPr lang="en-US" sz="1200" dirty="0">
                <a:solidFill>
                  <a:srgbClr val="5C7A99"/>
                </a:solidFill>
                <a:latin typeface="Calibri" pitchFamily="34" charset="0"/>
                <a:ea typeface="Calibri" pitchFamily="34" charset="-122"/>
                <a:cs typeface="Calibri" pitchFamily="34" charset="-120"/>
              </a:rPr>
              <a:t>Adeel Ahmed  ·  Cloud Computing APL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 ML Inference Serving</dc:title>
  <dc:subject>PptxGenJS Presentation</dc:subject>
  <dc:creator>Adeel Ahmed</dc:creator>
  <cp:lastModifiedBy>Adeel Ahmed</cp:lastModifiedBy>
  <cp:revision>1</cp:revision>
  <dcterms:created xsi:type="dcterms:W3CDTF">2026-07-06T08:33:08Z</dcterms:created>
  <dcterms:modified xsi:type="dcterms:W3CDTF">2026-07-06T08:33:08Z</dcterms:modified>
</cp:coreProperties>
</file>